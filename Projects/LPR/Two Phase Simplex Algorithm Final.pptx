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4"/>
  </p:sldMasterIdLst>
  <p:sldIdLst>
    <p:sldId id="256" r:id="rId5"/>
    <p:sldId id="258" r:id="rId6"/>
    <p:sldId id="259"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1E1CF-1FF6-4BA1-A945-62AC14579954}" v="185" dt="2026-04-23T05:33:15.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439880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58497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508349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04135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489688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844774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457567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75362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61784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836202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7/29/2026</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25504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7/29/2026</a:t>
            </a:fld>
            <a:endParaRPr lang="en-US" dirty="0"/>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0971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e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jpeg"/><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42768F-95BB-478A-ADFA-24FD8097F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920E5AF-557D-12CA-B4A1-3A8BF844E358}"/>
              </a:ext>
            </a:extLst>
          </p:cNvPr>
          <p:cNvPicPr>
            <a:picLocks noChangeAspect="1"/>
          </p:cNvPicPr>
          <p:nvPr/>
        </p:nvPicPr>
        <p:blipFill>
          <a:blip r:embed="rId2"/>
          <a:srcRect t="29687"/>
          <a:stretch>
            <a:fillRect/>
          </a:stretch>
        </p:blipFill>
        <p:spPr>
          <a:xfrm>
            <a:off x="-9" y="193050"/>
            <a:ext cx="12191981" cy="6857990"/>
          </a:xfrm>
          <a:prstGeom prst="rect">
            <a:avLst/>
          </a:prstGeom>
        </p:spPr>
      </p:pic>
      <p:sp>
        <p:nvSpPr>
          <p:cNvPr id="11" name="Rectangle 10">
            <a:extLst>
              <a:ext uri="{FF2B5EF4-FFF2-40B4-BE49-F238E27FC236}">
                <a16:creationId xmlns:a16="http://schemas.microsoft.com/office/drawing/2014/main" id="{13F26D5C-77E9-4A8D-95F0-1635BAD12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
            <a:ext cx="12191999" cy="4360983"/>
          </a:xfrm>
          <a:prstGeom prst="rect">
            <a:avLst/>
          </a:prstGeom>
          <a:gradFill flip="none" rotWithShape="1">
            <a:gsLst>
              <a:gs pos="3000">
                <a:srgbClr val="000000">
                  <a:alpha val="0"/>
                </a:srgbClr>
              </a:gs>
              <a:gs pos="61000">
                <a:srgbClr val="000000">
                  <a:alpha val="48000"/>
                </a:srgbClr>
              </a:gs>
              <a:gs pos="100000">
                <a:srgbClr val="000000">
                  <a:alpha val="58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F6D50B8-D0F9-4CEB-941F-0C0ECC4B5104}"/>
              </a:ext>
            </a:extLst>
          </p:cNvPr>
          <p:cNvSpPr>
            <a:spLocks noGrp="1"/>
          </p:cNvSpPr>
          <p:nvPr>
            <p:ph type="ctrTitle"/>
          </p:nvPr>
        </p:nvSpPr>
        <p:spPr>
          <a:xfrm>
            <a:off x="548642" y="952500"/>
            <a:ext cx="5894200" cy="1535114"/>
          </a:xfrm>
        </p:spPr>
        <p:txBody>
          <a:bodyPr>
            <a:normAutofit/>
          </a:bodyPr>
          <a:lstStyle/>
          <a:p>
            <a:r>
              <a:rPr lang="en-ZA" sz="3600" dirty="0">
                <a:solidFill>
                  <a:srgbClr val="FFFFFF"/>
                </a:solidFill>
              </a:rPr>
              <a:t>Two Phase Simplex Algorithm</a:t>
            </a:r>
          </a:p>
        </p:txBody>
      </p:sp>
      <p:cxnSp>
        <p:nvCxnSpPr>
          <p:cNvPr id="13" name="Straight Connector 12">
            <a:extLst>
              <a:ext uri="{FF2B5EF4-FFF2-40B4-BE49-F238E27FC236}">
                <a16:creationId xmlns:a16="http://schemas.microsoft.com/office/drawing/2014/main" id="{0632DC5A-0728-490F-8655-6B43778270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BB1F6D-CF9C-422D-9324-C46415BB9D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828793B-3B21-D376-A3B7-745EAFD4CEDD}"/>
              </a:ext>
            </a:extLst>
          </p:cNvPr>
          <p:cNvSpPr txBox="1"/>
          <p:nvPr/>
        </p:nvSpPr>
        <p:spPr>
          <a:xfrm>
            <a:off x="238530" y="5053513"/>
            <a:ext cx="4239491" cy="1477328"/>
          </a:xfrm>
          <a:prstGeom prst="rect">
            <a:avLst/>
          </a:prstGeom>
          <a:noFill/>
        </p:spPr>
        <p:txBody>
          <a:bodyPr wrap="square" rtlCol="0">
            <a:spAutoFit/>
          </a:bodyPr>
          <a:lstStyle/>
          <a:p>
            <a:r>
              <a:rPr lang="en-ZA" dirty="0"/>
              <a:t>Created by Group 10 - V-am</a:t>
            </a:r>
          </a:p>
          <a:p>
            <a:r>
              <a:rPr lang="en-ZA" dirty="0"/>
              <a:t>Members </a:t>
            </a:r>
            <a:br>
              <a:rPr lang="en-ZA" dirty="0"/>
            </a:br>
            <a:r>
              <a:rPr lang="en-ZA" dirty="0"/>
              <a:t>* Alexander Kruger - 605298</a:t>
            </a:r>
            <a:br>
              <a:rPr lang="en-ZA" dirty="0"/>
            </a:br>
            <a:r>
              <a:rPr lang="en-ZA" dirty="0"/>
              <a:t>* Marvin Netshirando - 605733</a:t>
            </a:r>
            <a:br>
              <a:rPr lang="en-ZA" dirty="0"/>
            </a:br>
            <a:r>
              <a:rPr lang="en-ZA" dirty="0"/>
              <a:t>* Tawanda Marimo - 601434</a:t>
            </a:r>
          </a:p>
        </p:txBody>
      </p:sp>
    </p:spTree>
    <p:extLst>
      <p:ext uri="{BB962C8B-B14F-4D97-AF65-F5344CB8AC3E}">
        <p14:creationId xmlns:p14="http://schemas.microsoft.com/office/powerpoint/2010/main" val="8942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5A37B0-B1F5-6D71-AA63-9F8390CD7BE4}"/>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1" name="Rectangle 30">
            <a:extLst>
              <a:ext uri="{FF2B5EF4-FFF2-40B4-BE49-F238E27FC236}">
                <a16:creationId xmlns:a16="http://schemas.microsoft.com/office/drawing/2014/main" id="{B00A26AB-E1BA-4180-829A-BF134BA81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F498A24E-F6AC-42A6-8BC2-1A91D9768F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descr="Black 3D wave patterns">
            <a:extLst>
              <a:ext uri="{FF2B5EF4-FFF2-40B4-BE49-F238E27FC236}">
                <a16:creationId xmlns:a16="http://schemas.microsoft.com/office/drawing/2014/main" id="{57686A53-31B2-A90F-29EA-DB73D09AF179}"/>
              </a:ext>
            </a:extLst>
          </p:cNvPr>
          <p:cNvPicPr>
            <a:picLocks noChangeAspect="1"/>
          </p:cNvPicPr>
          <p:nvPr/>
        </p:nvPicPr>
        <p:blipFill>
          <a:blip r:embed="rId2">
            <a:extLst>
              <a:ext uri="{28A0092B-C50C-407E-A947-70E740481C1C}">
                <a14:useLocalDpi xmlns:a14="http://schemas.microsoft.com/office/drawing/2010/main" val="0"/>
              </a:ext>
            </a:extLst>
          </a:blip>
          <a:srcRect l="2081" r="2081"/>
          <a:stretch/>
        </p:blipFill>
        <p:spPr>
          <a:xfrm>
            <a:off x="0" y="0"/>
            <a:ext cx="12192000" cy="6858000"/>
          </a:xfrm>
          <a:prstGeom prst="rect">
            <a:avLst/>
          </a:prstGeom>
          <a:ln>
            <a:solidFill>
              <a:schemeClr val="accent1"/>
            </a:solidFill>
          </a:ln>
        </p:spPr>
      </p:pic>
      <p:cxnSp>
        <p:nvCxnSpPr>
          <p:cNvPr id="35" name="Straight Connector 34">
            <a:extLst>
              <a:ext uri="{FF2B5EF4-FFF2-40B4-BE49-F238E27FC236}">
                <a16:creationId xmlns:a16="http://schemas.microsoft.com/office/drawing/2014/main" id="{6679D7AD-A487-4DDE-950D-32D24100B1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EE3DD998-2CB0-161C-6302-49B4C6ED3274}"/>
              </a:ext>
            </a:extLst>
          </p:cNvPr>
          <p:cNvSpPr>
            <a:spLocks noGrp="1"/>
          </p:cNvSpPr>
          <p:nvPr>
            <p:ph type="title"/>
          </p:nvPr>
        </p:nvSpPr>
        <p:spPr>
          <a:xfrm>
            <a:off x="0" y="139794"/>
            <a:ext cx="6205453" cy="1077849"/>
          </a:xfrm>
        </p:spPr>
        <p:txBody>
          <a:bodyPr vert="horz" lIns="91440" tIns="45720" rIns="91440" bIns="45720" rtlCol="0" anchor="t">
            <a:normAutofit/>
          </a:bodyPr>
          <a:lstStyle/>
          <a:p>
            <a:r>
              <a:rPr lang="en-US" b="1" dirty="0">
                <a:solidFill>
                  <a:schemeClr val="bg1"/>
                </a:solidFill>
              </a:rPr>
              <a:t>When is the Two-Phase Simplex Necessary?</a:t>
            </a:r>
          </a:p>
        </p:txBody>
      </p:sp>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B48B4632-11B9-7F52-71B4-514CFC2D43B0}"/>
                  </a:ext>
                </a:extLst>
              </p:cNvPr>
              <p:cNvSpPr>
                <a:spLocks noGrp="1"/>
              </p:cNvSpPr>
              <p:nvPr>
                <p:ph type="body" sz="half" idx="2"/>
              </p:nvPr>
            </p:nvSpPr>
            <p:spPr>
              <a:xfrm>
                <a:off x="7636703" y="1056254"/>
                <a:ext cx="3911830" cy="5006321"/>
              </a:xfrm>
              <a:solidFill>
                <a:schemeClr val="tx1">
                  <a:lumMod val="95000"/>
                  <a:lumOff val="5000"/>
                </a:schemeClr>
              </a:solidFill>
            </p:spPr>
            <p:txBody>
              <a:bodyPr vert="horz" lIns="91440" tIns="45720" rIns="91440" bIns="45720" rtlCol="0">
                <a:noAutofit/>
              </a:bodyPr>
              <a:lstStyle/>
              <a:p>
                <a:pPr indent="-228600">
                  <a:buFont typeface="Arial" panose="020B0604020202020204" pitchFamily="34" charset="0"/>
                  <a:buChar char="•"/>
                </a:pPr>
                <a:r>
                  <a:rPr lang="en-US" b="1" dirty="0">
                    <a:solidFill>
                      <a:schemeClr val="bg1"/>
                    </a:solidFill>
                  </a:rPr>
                  <a:t>Initial Check:</a:t>
                </a:r>
                <a:r>
                  <a:rPr lang="en-US" dirty="0">
                    <a:solidFill>
                      <a:schemeClr val="bg1"/>
                    </a:solidFill>
                  </a:rPr>
                  <a:t> Before starting, check if the model requires a </a:t>
                </a:r>
                <a:r>
                  <a:rPr lang="en-US" b="1" dirty="0">
                    <a:solidFill>
                      <a:schemeClr val="bg1"/>
                    </a:solidFill>
                  </a:rPr>
                  <a:t>Two-Phase Algorithm</a:t>
                </a:r>
                <a:r>
                  <a:rPr lang="en-US" dirty="0">
                    <a:solidFill>
                      <a:schemeClr val="bg1"/>
                    </a:solidFill>
                  </a:rPr>
                  <a:t> instead of the standard Primal Simplex.</a:t>
                </a:r>
              </a:p>
              <a:p>
                <a:pPr indent="-228600">
                  <a:buFont typeface="Arial" panose="020B0604020202020204" pitchFamily="34" charset="0"/>
                  <a:buChar char="•"/>
                </a:pPr>
                <a:r>
                  <a:rPr lang="en-US" b="1" dirty="0">
                    <a:solidFill>
                      <a:schemeClr val="bg1"/>
                    </a:solidFill>
                  </a:rPr>
                  <a:t>The Rule:</a:t>
                </a:r>
                <a:r>
                  <a:rPr lang="en-US" dirty="0">
                    <a:solidFill>
                      <a:schemeClr val="bg1"/>
                    </a:solidFill>
                  </a:rPr>
                  <a:t> If any constraints use </a:t>
                </a:r>
                <a14:m>
                  <m:oMath xmlns:m="http://schemas.openxmlformats.org/officeDocument/2006/math">
                    <m:r>
                      <a:rPr lang="en-US">
                        <a:solidFill>
                          <a:schemeClr val="bg1"/>
                        </a:solidFill>
                        <a:latin typeface="Cambria Math" panose="02040503050406030204" pitchFamily="18" charset="0"/>
                      </a:rPr>
                      <m:t>≥</m:t>
                    </m:r>
                  </m:oMath>
                </a14:m>
                <a:r>
                  <a:rPr lang="en-US" dirty="0">
                    <a:solidFill>
                      <a:schemeClr val="bg1"/>
                    </a:solidFill>
                  </a:rPr>
                  <a:t> or  </a:t>
                </a:r>
                <a14:m>
                  <m:oMath xmlns:m="http://schemas.openxmlformats.org/officeDocument/2006/math">
                    <m:r>
                      <a:rPr lang="en-US">
                        <a:solidFill>
                          <a:schemeClr val="bg1"/>
                        </a:solidFill>
                        <a:latin typeface="Cambria Math" panose="02040503050406030204" pitchFamily="18" charset="0"/>
                      </a:rPr>
                      <m:t>=</m:t>
                    </m:r>
                  </m:oMath>
                </a14:m>
                <a:r>
                  <a:rPr lang="en-US" dirty="0">
                    <a:solidFill>
                      <a:schemeClr val="bg1"/>
                    </a:solidFill>
                  </a:rPr>
                  <a:t> signs instead of </a:t>
                </a:r>
                <a14:m>
                  <m:oMath xmlns:m="http://schemas.openxmlformats.org/officeDocument/2006/math">
                    <m:r>
                      <a:rPr lang="en-US">
                        <a:solidFill>
                          <a:schemeClr val="bg1"/>
                        </a:solidFill>
                        <a:latin typeface="Cambria Math" panose="02040503050406030204" pitchFamily="18" charset="0"/>
                      </a:rPr>
                      <m:t>≤</m:t>
                    </m:r>
                  </m:oMath>
                </a14:m>
                <a:r>
                  <a:rPr lang="en-US" dirty="0">
                    <a:solidFill>
                      <a:schemeClr val="bg1"/>
                    </a:solidFill>
                  </a:rPr>
                  <a:t>, standard Primal Simplex cannot be used</a:t>
                </a:r>
              </a:p>
              <a:p>
                <a:pPr indent="-228600">
                  <a:buFont typeface="Arial" panose="020B0604020202020204" pitchFamily="34" charset="0"/>
                  <a:buChar char="•"/>
                </a:pPr>
                <a:r>
                  <a:rPr lang="en-ZA" b="1" dirty="0">
                    <a:solidFill>
                      <a:schemeClr val="bg1"/>
                    </a:solidFill>
                  </a:rPr>
                  <a:t>The Reason:</a:t>
                </a:r>
                <a:r>
                  <a:rPr lang="en-ZA" dirty="0">
                    <a:solidFill>
                      <a:schemeClr val="bg1"/>
                    </a:solidFill>
                  </a:rPr>
                  <a:t> The Primal Simplex algorithm starts at the </a:t>
                </a:r>
                <a:r>
                  <a:rPr lang="en-ZA" b="1" dirty="0">
                    <a:solidFill>
                      <a:schemeClr val="bg1"/>
                    </a:solidFill>
                  </a:rPr>
                  <a:t>origin </a:t>
                </a:r>
                <a14:m>
                  <m:oMath xmlns:m="http://schemas.openxmlformats.org/officeDocument/2006/math">
                    <m:d>
                      <m:dPr>
                        <m:sepChr m:val=","/>
                        <m:ctrlPr>
                          <a:rPr lang="ar-AE">
                            <a:solidFill>
                              <a:schemeClr val="bg1"/>
                            </a:solidFill>
                            <a:latin typeface="Cambria Math" panose="02040503050406030204" pitchFamily="18" charset="0"/>
                          </a:rPr>
                        </m:ctrlPr>
                      </m:dPr>
                      <m:e>
                        <m:r>
                          <a:rPr lang="ar-AE">
                            <a:solidFill>
                              <a:schemeClr val="bg1"/>
                            </a:solidFill>
                            <a:latin typeface="Cambria Math" panose="02040503050406030204" pitchFamily="18" charset="0"/>
                          </a:rPr>
                          <m:t>0</m:t>
                        </m:r>
                      </m:e>
                      <m:e>
                        <m:r>
                          <a:rPr lang="ar-AE">
                            <a:solidFill>
                              <a:schemeClr val="bg1"/>
                            </a:solidFill>
                            <a:latin typeface="Cambria Math" panose="02040503050406030204" pitchFamily="18" charset="0"/>
                          </a:rPr>
                          <m:t>0</m:t>
                        </m:r>
                      </m:e>
                    </m:d>
                  </m:oMath>
                </a14:m>
                <a:r>
                  <a:rPr lang="ar-AE" dirty="0">
                    <a:solidFill>
                      <a:schemeClr val="bg1"/>
                    </a:solidFill>
                  </a:rPr>
                  <a:t> </a:t>
                </a:r>
                <a:r>
                  <a:rPr lang="en-ZA" dirty="0">
                    <a:solidFill>
                      <a:schemeClr val="bg1"/>
                    </a:solidFill>
                  </a:rPr>
                  <a:t>If a constraint is </a:t>
                </a:r>
                <a14:m>
                  <m:oMath xmlns:m="http://schemas.openxmlformats.org/officeDocument/2006/math">
                    <m:r>
                      <a:rPr lang="en-ZA">
                        <a:solidFill>
                          <a:schemeClr val="bg1"/>
                        </a:solidFill>
                        <a:latin typeface="Cambria Math" panose="02040503050406030204" pitchFamily="18" charset="0"/>
                      </a:rPr>
                      <m:t>≥</m:t>
                    </m:r>
                  </m:oMath>
                </a14:m>
                <a:r>
                  <a:rPr lang="en-ZA" dirty="0">
                    <a:solidFill>
                      <a:schemeClr val="bg1"/>
                    </a:solidFill>
                  </a:rPr>
                  <a:t>or </a:t>
                </a:r>
                <a14:m>
                  <m:oMath xmlns:m="http://schemas.openxmlformats.org/officeDocument/2006/math">
                    <m:r>
                      <a:rPr lang="en-ZA">
                        <a:solidFill>
                          <a:schemeClr val="bg1"/>
                        </a:solidFill>
                        <a:latin typeface="Cambria Math" panose="02040503050406030204" pitchFamily="18" charset="0"/>
                      </a:rPr>
                      <m:t>=</m:t>
                    </m:r>
                  </m:oMath>
                </a14:m>
                <a:r>
                  <a:rPr lang="en-ZA" dirty="0">
                    <a:solidFill>
                      <a:schemeClr val="bg1"/>
                    </a:solidFill>
                  </a:rPr>
                  <a:t>, the origin is not a feasible starting point (it doesn't satisfy the equations).</a:t>
                </a:r>
              </a:p>
              <a:p>
                <a:pPr indent="-228600">
                  <a:buFont typeface="Arial" panose="020B0604020202020204" pitchFamily="34" charset="0"/>
                  <a:buChar char="•"/>
                </a:pPr>
                <a:r>
                  <a:rPr lang="en-US" b="1" dirty="0">
                    <a:solidFill>
                      <a:schemeClr val="bg1"/>
                    </a:solidFill>
                  </a:rPr>
                  <a:t>Solution:</a:t>
                </a:r>
                <a:r>
                  <a:rPr lang="en-US" dirty="0">
                    <a:solidFill>
                      <a:schemeClr val="bg1"/>
                    </a:solidFill>
                  </a:rPr>
                  <a:t> We use the </a:t>
                </a:r>
                <a:r>
                  <a:rPr lang="en-US" b="1" dirty="0">
                    <a:solidFill>
                      <a:schemeClr val="bg1"/>
                    </a:solidFill>
                  </a:rPr>
                  <a:t>Two-Phase Method</a:t>
                </a:r>
                <a:r>
                  <a:rPr lang="en-US" dirty="0">
                    <a:solidFill>
                      <a:schemeClr val="bg1"/>
                    </a:solidFill>
                  </a:rPr>
                  <a:t> to find an initial feasible starting point before optimizing the model.</a:t>
                </a:r>
              </a:p>
              <a:p>
                <a:br>
                  <a:rPr lang="en-US" dirty="0"/>
                </a:br>
                <a:br>
                  <a:rPr lang="en-US" dirty="0"/>
                </a:br>
                <a:endParaRPr lang="en-US" dirty="0">
                  <a:solidFill>
                    <a:schemeClr val="bg1"/>
                  </a:solidFill>
                </a:endParaRPr>
              </a:p>
            </p:txBody>
          </p:sp>
        </mc:Choice>
        <mc:Fallback xmlns="">
          <p:sp>
            <p:nvSpPr>
              <p:cNvPr id="10" name="Text Placeholder 5">
                <a:extLst>
                  <a:ext uri="{FF2B5EF4-FFF2-40B4-BE49-F238E27FC236}">
                    <a16:creationId xmlns:a16="http://schemas.microsoft.com/office/drawing/2014/main" id="{B48B4632-11B9-7F52-71B4-514CFC2D43B0}"/>
                  </a:ext>
                </a:extLst>
              </p:cNvPr>
              <p:cNvSpPr>
                <a:spLocks noGrp="1" noRot="1" noChangeAspect="1" noMove="1" noResize="1" noEditPoints="1" noAdjustHandles="1" noChangeArrowheads="1" noChangeShapeType="1" noTextEdit="1"/>
              </p:cNvSpPr>
              <p:nvPr>
                <p:ph type="body" sz="half" idx="2"/>
              </p:nvPr>
            </p:nvSpPr>
            <p:spPr>
              <a:xfrm>
                <a:off x="7636703" y="1056254"/>
                <a:ext cx="3911830" cy="5006321"/>
              </a:xfrm>
              <a:blipFill>
                <a:blip r:embed="rId3"/>
                <a:stretch>
                  <a:fillRect l="-936" r="-312"/>
                </a:stretch>
              </a:blipFill>
            </p:spPr>
            <p:txBody>
              <a:bodyPr/>
              <a:lstStyle/>
              <a:p>
                <a:r>
                  <a:rPr lang="en-ZA">
                    <a:noFill/>
                  </a:rPr>
                  <a:t> </a:t>
                </a:r>
              </a:p>
            </p:txBody>
          </p:sp>
        </mc:Fallback>
      </mc:AlternateContent>
      <p:pic>
        <p:nvPicPr>
          <p:cNvPr id="5" name="Picture 4">
            <a:extLst>
              <a:ext uri="{FF2B5EF4-FFF2-40B4-BE49-F238E27FC236}">
                <a16:creationId xmlns:a16="http://schemas.microsoft.com/office/drawing/2014/main" id="{94C910D1-A1F3-0A3E-EB3B-060CFBF65174}"/>
              </a:ext>
            </a:extLst>
          </p:cNvPr>
          <p:cNvPicPr>
            <a:picLocks noChangeAspect="1"/>
          </p:cNvPicPr>
          <p:nvPr/>
        </p:nvPicPr>
        <p:blipFill>
          <a:blip r:embed="rId4"/>
          <a:stretch>
            <a:fillRect/>
          </a:stretch>
        </p:blipFill>
        <p:spPr>
          <a:xfrm>
            <a:off x="137652" y="1554480"/>
            <a:ext cx="7029421" cy="1874520"/>
          </a:xfrm>
          <a:prstGeom prst="rect">
            <a:avLst/>
          </a:prstGeom>
        </p:spPr>
      </p:pic>
      <p:pic>
        <p:nvPicPr>
          <p:cNvPr id="7" name="Picture 6">
            <a:extLst>
              <a:ext uri="{FF2B5EF4-FFF2-40B4-BE49-F238E27FC236}">
                <a16:creationId xmlns:a16="http://schemas.microsoft.com/office/drawing/2014/main" id="{4D274F84-55A9-41F1-E15E-217A8843E662}"/>
              </a:ext>
            </a:extLst>
          </p:cNvPr>
          <p:cNvPicPr>
            <a:picLocks noChangeAspect="1"/>
          </p:cNvPicPr>
          <p:nvPr/>
        </p:nvPicPr>
        <p:blipFill>
          <a:blip r:embed="rId5"/>
          <a:stretch>
            <a:fillRect/>
          </a:stretch>
        </p:blipFill>
        <p:spPr>
          <a:xfrm>
            <a:off x="137651" y="3899647"/>
            <a:ext cx="7029421" cy="1874519"/>
          </a:xfrm>
          <a:prstGeom prst="rect">
            <a:avLst/>
          </a:prstGeom>
        </p:spPr>
      </p:pic>
    </p:spTree>
    <p:extLst>
      <p:ext uri="{BB962C8B-B14F-4D97-AF65-F5344CB8AC3E}">
        <p14:creationId xmlns:p14="http://schemas.microsoft.com/office/powerpoint/2010/main" val="13498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4B7B51F0-B802-42C9-AF45-A860F9551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C5258B9E-C015-412F-9B81-E40D361E9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E111E777-3853-1194-3726-A1F6EAE0EF3F}"/>
              </a:ext>
            </a:extLst>
          </p:cNvPr>
          <p:cNvPicPr>
            <a:picLocks noChangeAspect="1"/>
          </p:cNvPicPr>
          <p:nvPr/>
        </p:nvPicPr>
        <p:blipFill>
          <a:blip r:embed="rId2">
            <a:alphaModFix amt="50000"/>
          </a:blip>
          <a:srcRect t="3770" b="2480"/>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855332-CDC0-3E42-0C98-DB9D329DBFD2}"/>
              </a:ext>
            </a:extLst>
          </p:cNvPr>
          <p:cNvSpPr>
            <a:spLocks noGrp="1"/>
          </p:cNvSpPr>
          <p:nvPr>
            <p:ph type="title"/>
          </p:nvPr>
        </p:nvSpPr>
        <p:spPr>
          <a:xfrm>
            <a:off x="548640" y="952501"/>
            <a:ext cx="5547360" cy="2476499"/>
          </a:xfrm>
        </p:spPr>
        <p:txBody>
          <a:bodyPr vert="horz" lIns="91440" tIns="45720" rIns="91440" bIns="45720" rtlCol="0" anchor="t">
            <a:normAutofit/>
          </a:bodyPr>
          <a:lstStyle/>
          <a:p>
            <a:r>
              <a:rPr lang="en-US" sz="4400" kern="1200" dirty="0">
                <a:solidFill>
                  <a:srgbClr val="FFFFFF"/>
                </a:solidFill>
                <a:latin typeface="+mj-lt"/>
                <a:ea typeface="+mj-ea"/>
                <a:cs typeface="+mj-cs"/>
              </a:rPr>
              <a:t>Rewrite all inequalities </a:t>
            </a:r>
            <a:br>
              <a:rPr lang="en-US" sz="4400" kern="1200" dirty="0">
                <a:solidFill>
                  <a:srgbClr val="FFFFFF"/>
                </a:solidFill>
                <a:latin typeface="+mj-lt"/>
                <a:ea typeface="+mj-ea"/>
                <a:cs typeface="+mj-cs"/>
              </a:rPr>
            </a:br>
            <a:r>
              <a:rPr lang="en-US" sz="4400" kern="1200" dirty="0">
                <a:solidFill>
                  <a:srgbClr val="FFFFFF"/>
                </a:solidFill>
                <a:latin typeface="+mj-lt"/>
                <a:ea typeface="+mj-ea"/>
                <a:cs typeface="+mj-cs"/>
              </a:rPr>
              <a:t>as equalities</a:t>
            </a:r>
          </a:p>
        </p:txBody>
      </p:sp>
      <p:cxnSp>
        <p:nvCxnSpPr>
          <p:cNvPr id="56" name="Straight Connector 55">
            <a:extLst>
              <a:ext uri="{FF2B5EF4-FFF2-40B4-BE49-F238E27FC236}">
                <a16:creationId xmlns:a16="http://schemas.microsoft.com/office/drawing/2014/main" id="{814332FE-82B3-4EC0-8568-D8763144029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7259BF0-FE97-9EA7-18E1-80AFD6E296CD}"/>
                  </a:ext>
                </a:extLst>
              </p:cNvPr>
              <p:cNvSpPr txBox="1"/>
              <p:nvPr/>
            </p:nvSpPr>
            <p:spPr>
              <a:xfrm>
                <a:off x="3792682" y="952500"/>
                <a:ext cx="7755850" cy="4449818"/>
              </a:xfrm>
              <a:prstGeom prst="rect">
                <a:avLst/>
              </a:prstGeom>
            </p:spPr>
            <p:txBody>
              <a:bodyPr vert="horz" lIns="91440" tIns="45720" rIns="91440" bIns="45720" rtlCol="0">
                <a:noAutofit/>
              </a:bodyPr>
              <a:lstStyle/>
              <a:p>
                <a:pPr indent="-228600">
                  <a:lnSpc>
                    <a:spcPct val="120000"/>
                  </a:lnSpc>
                  <a:spcAft>
                    <a:spcPts val="600"/>
                  </a:spcAft>
                  <a:buFont typeface="Arial" panose="020B0604020202020204" pitchFamily="34" charset="0"/>
                  <a:buChar char="•"/>
                </a:pPr>
                <a:r>
                  <a:rPr lang="en-US" sz="2800" dirty="0">
                    <a:solidFill>
                      <a:srgbClr val="FFFFFF"/>
                    </a:solidFill>
                  </a:rPr>
                  <a:t>#note I = index of current constraint</a:t>
                </a:r>
              </a:p>
              <a:p>
                <a:pPr indent="-228600">
                  <a:lnSpc>
                    <a:spcPct val="120000"/>
                  </a:lnSpc>
                  <a:spcAft>
                    <a:spcPts val="600"/>
                  </a:spcAft>
                  <a:buFont typeface="Arial" panose="020B0604020202020204" pitchFamily="34" charset="0"/>
                  <a:buChar char="•"/>
                </a:pPr>
                <a:endParaRPr lang="en-US" sz="2800" dirty="0">
                  <a:solidFill>
                    <a:srgbClr val="FFFFFF"/>
                  </a:solidFill>
                </a:endParaRPr>
              </a:p>
              <a:p>
                <a:pPr indent="-228600">
                  <a:lnSpc>
                    <a:spcPct val="120000"/>
                  </a:lnSpc>
                  <a:spcAft>
                    <a:spcPts val="600"/>
                  </a:spcAft>
                  <a:buFont typeface="Arial" panose="020B0604020202020204" pitchFamily="34" charset="0"/>
                  <a:buChar char="•"/>
                </a:pPr>
                <a:r>
                  <a:rPr lang="en-US" sz="2800" b="1" dirty="0">
                    <a:solidFill>
                      <a:srgbClr val="FFFFFF"/>
                    </a:solidFill>
                  </a:rPr>
                  <a:t>For </a:t>
                </a:r>
                <a14:m>
                  <m:oMath xmlns:m="http://schemas.openxmlformats.org/officeDocument/2006/math">
                    <m:r>
                      <a:rPr lang="en-US" sz="2800">
                        <a:solidFill>
                          <a:srgbClr val="FFFFFF"/>
                        </a:solidFill>
                        <a:latin typeface="Cambria Math" panose="02040503050406030204" pitchFamily="18" charset="0"/>
                      </a:rPr>
                      <m:t>=</m:t>
                    </m:r>
                  </m:oMath>
                </a14:m>
                <a:r>
                  <a:rPr lang="en-US" sz="2800" b="1" dirty="0">
                    <a:solidFill>
                      <a:srgbClr val="FFFFFF"/>
                    </a:solidFill>
                  </a:rPr>
                  <a:t> constraints:</a:t>
                </a:r>
                <a:r>
                  <a:rPr lang="en-US" sz="2800" dirty="0">
                    <a:solidFill>
                      <a:srgbClr val="FFFFFF"/>
                    </a:solidFill>
                  </a:rPr>
                  <a:t> Add an artificial variable(</a:t>
                </a:r>
                <a14:m>
                  <m:oMath xmlns:m="http://schemas.openxmlformats.org/officeDocument/2006/math">
                    <m:sSub>
                      <m:sSubPr>
                        <m:ctrlPr>
                          <a:rPr lang="en-US" sz="2800" i="1">
                            <a:solidFill>
                              <a:srgbClr val="FFFFFF"/>
                            </a:solidFill>
                            <a:latin typeface="Cambria Math" panose="02040503050406030204" pitchFamily="18" charset="0"/>
                          </a:rPr>
                        </m:ctrlPr>
                      </m:sSubPr>
                      <m:e>
                        <m:r>
                          <a:rPr lang="en-US" sz="2800" i="1">
                            <a:solidFill>
                              <a:srgbClr val="FFFFFF"/>
                            </a:solidFill>
                            <a:latin typeface="Cambria Math" panose="02040503050406030204" pitchFamily="18" charset="0"/>
                          </a:rPr>
                          <m:t>𝑎</m:t>
                        </m:r>
                      </m:e>
                      <m:sub>
                        <m:r>
                          <a:rPr lang="en-US" sz="2800" i="1">
                            <a:solidFill>
                              <a:srgbClr val="FFFFFF"/>
                            </a:solidFill>
                            <a:latin typeface="Cambria Math" panose="02040503050406030204" pitchFamily="18" charset="0"/>
                          </a:rPr>
                          <m:t>𝑖</m:t>
                        </m:r>
                      </m:sub>
                    </m:sSub>
                    <m:r>
                      <a:rPr lang="en-US" sz="2800" b="0" i="0">
                        <a:solidFill>
                          <a:srgbClr val="FFFFFF"/>
                        </a:solidFill>
                        <a:latin typeface="Cambria Math" panose="02040503050406030204" pitchFamily="18" charset="0"/>
                      </a:rPr>
                      <m:t>).</m:t>
                    </m:r>
                  </m:oMath>
                </a14:m>
                <a:endParaRPr lang="en-US" sz="2800" dirty="0">
                  <a:solidFill>
                    <a:srgbClr val="FFFFFF"/>
                  </a:solidFill>
                </a:endParaRPr>
              </a:p>
              <a:p>
                <a:pPr indent="-228600">
                  <a:lnSpc>
                    <a:spcPct val="120000"/>
                  </a:lnSpc>
                  <a:spcAft>
                    <a:spcPts val="600"/>
                  </a:spcAft>
                  <a:buFont typeface="Arial" panose="020B0604020202020204" pitchFamily="34" charset="0"/>
                  <a:buChar char="•"/>
                </a:pPr>
                <a:endParaRPr lang="en-US" sz="2800" dirty="0">
                  <a:solidFill>
                    <a:srgbClr val="FFFFFF"/>
                  </a:solidFill>
                </a:endParaRPr>
              </a:p>
              <a:p>
                <a:pPr indent="-228600">
                  <a:lnSpc>
                    <a:spcPct val="120000"/>
                  </a:lnSpc>
                  <a:spcAft>
                    <a:spcPts val="600"/>
                  </a:spcAft>
                  <a:buFont typeface="Arial" panose="020B0604020202020204" pitchFamily="34" charset="0"/>
                  <a:buChar char="•"/>
                </a:pPr>
                <a:r>
                  <a:rPr lang="en-US" sz="2800" b="1" dirty="0">
                    <a:solidFill>
                      <a:srgbClr val="FFFFFF"/>
                    </a:solidFill>
                  </a:rPr>
                  <a:t>For </a:t>
                </a:r>
                <a14:m>
                  <m:oMath xmlns:m="http://schemas.openxmlformats.org/officeDocument/2006/math">
                    <m:r>
                      <a:rPr lang="en-US" sz="2800">
                        <a:solidFill>
                          <a:srgbClr val="FFFFFF"/>
                        </a:solidFill>
                        <a:latin typeface="Cambria Math" panose="02040503050406030204" pitchFamily="18" charset="0"/>
                      </a:rPr>
                      <m:t>≤</m:t>
                    </m:r>
                    <m:r>
                      <a:rPr lang="en-US" sz="2800" b="1" i="0">
                        <a:solidFill>
                          <a:srgbClr val="FFFFFF"/>
                        </a:solidFill>
                        <a:latin typeface="Cambria Math" panose="02040503050406030204" pitchFamily="18" charset="0"/>
                      </a:rPr>
                      <m:t> </m:t>
                    </m:r>
                  </m:oMath>
                </a14:m>
                <a:r>
                  <a:rPr lang="en-US" sz="2800" b="1" dirty="0">
                    <a:solidFill>
                      <a:srgbClr val="FFFFFF"/>
                    </a:solidFill>
                  </a:rPr>
                  <a:t>constraints:</a:t>
                </a:r>
                <a:r>
                  <a:rPr lang="en-US" sz="2800" dirty="0">
                    <a:solidFill>
                      <a:srgbClr val="FFFFFF"/>
                    </a:solidFill>
                  </a:rPr>
                  <a:t> Add a slack variable (</a:t>
                </a:r>
                <a14:m>
                  <m:oMath xmlns:m="http://schemas.openxmlformats.org/officeDocument/2006/math">
                    <m:sSub>
                      <m:sSubPr>
                        <m:ctrlPr>
                          <a:rPr lang="en-US" sz="2800" i="1">
                            <a:solidFill>
                              <a:srgbClr val="FFFFFF"/>
                            </a:solidFill>
                            <a:latin typeface="Cambria Math" panose="02040503050406030204" pitchFamily="18" charset="0"/>
                          </a:rPr>
                        </m:ctrlPr>
                      </m:sSubPr>
                      <m:e>
                        <m:r>
                          <a:rPr lang="en-US" sz="2800" i="1">
                            <a:solidFill>
                              <a:srgbClr val="FFFFFF"/>
                            </a:solidFill>
                            <a:latin typeface="Cambria Math" panose="02040503050406030204" pitchFamily="18" charset="0"/>
                          </a:rPr>
                          <m:t>𝑠</m:t>
                        </m:r>
                      </m:e>
                      <m:sub>
                        <m:r>
                          <a:rPr lang="en-US" sz="2800" i="1">
                            <a:solidFill>
                              <a:srgbClr val="FFFFFF"/>
                            </a:solidFill>
                            <a:latin typeface="Cambria Math" panose="02040503050406030204" pitchFamily="18" charset="0"/>
                          </a:rPr>
                          <m:t>𝑖</m:t>
                        </m:r>
                      </m:sub>
                    </m:sSub>
                  </m:oMath>
                </a14:m>
                <a:r>
                  <a:rPr lang="en-US" sz="2800" dirty="0">
                    <a:solidFill>
                      <a:srgbClr val="FFFFFF"/>
                    </a:solidFill>
                  </a:rPr>
                  <a:t>).</a:t>
                </a:r>
              </a:p>
              <a:p>
                <a:pPr indent="-228600">
                  <a:lnSpc>
                    <a:spcPct val="120000"/>
                  </a:lnSpc>
                  <a:spcAft>
                    <a:spcPts val="600"/>
                  </a:spcAft>
                  <a:buFont typeface="Arial" panose="020B0604020202020204" pitchFamily="34" charset="0"/>
                  <a:buChar char="•"/>
                </a:pPr>
                <a:endParaRPr lang="en-US" sz="2800" dirty="0">
                  <a:solidFill>
                    <a:srgbClr val="FFFFFF"/>
                  </a:solidFill>
                </a:endParaRPr>
              </a:p>
              <a:p>
                <a:pPr indent="-228600">
                  <a:lnSpc>
                    <a:spcPct val="120000"/>
                  </a:lnSpc>
                  <a:spcAft>
                    <a:spcPts val="600"/>
                  </a:spcAft>
                  <a:buFont typeface="Arial" panose="020B0604020202020204" pitchFamily="34" charset="0"/>
                  <a:buChar char="•"/>
                </a:pPr>
                <a:r>
                  <a:rPr lang="en-US" sz="2800" b="1" dirty="0">
                    <a:solidFill>
                      <a:srgbClr val="FFFFFF"/>
                    </a:solidFill>
                  </a:rPr>
                  <a:t>For </a:t>
                </a:r>
                <a14:m>
                  <m:oMath xmlns:m="http://schemas.openxmlformats.org/officeDocument/2006/math">
                    <m:r>
                      <a:rPr lang="en-US" sz="2800">
                        <a:solidFill>
                          <a:srgbClr val="FFFFFF"/>
                        </a:solidFill>
                        <a:latin typeface="Cambria Math" panose="02040503050406030204" pitchFamily="18" charset="0"/>
                      </a:rPr>
                      <m:t>≥</m:t>
                    </m:r>
                    <m:r>
                      <a:rPr lang="en-US" sz="2800" b="1" i="0">
                        <a:solidFill>
                          <a:srgbClr val="FFFFFF"/>
                        </a:solidFill>
                        <a:latin typeface="Cambria Math" panose="02040503050406030204" pitchFamily="18" charset="0"/>
                      </a:rPr>
                      <m:t> </m:t>
                    </m:r>
                  </m:oMath>
                </a14:m>
                <a:r>
                  <a:rPr lang="en-US" sz="2800" b="1" dirty="0">
                    <a:solidFill>
                      <a:srgbClr val="FFFFFF"/>
                    </a:solidFill>
                  </a:rPr>
                  <a:t>constraints:</a:t>
                </a:r>
                <a:r>
                  <a:rPr lang="en-US" sz="2800" dirty="0">
                    <a:solidFill>
                      <a:srgbClr val="FFFFFF"/>
                    </a:solidFill>
                  </a:rPr>
                  <a:t> Subtract an excess variable (</a:t>
                </a:r>
                <a14:m>
                  <m:oMath xmlns:m="http://schemas.openxmlformats.org/officeDocument/2006/math">
                    <m:sSub>
                      <m:sSubPr>
                        <m:ctrlPr>
                          <a:rPr lang="en-US" sz="2800" i="1">
                            <a:solidFill>
                              <a:srgbClr val="FFFFFF"/>
                            </a:solidFill>
                            <a:latin typeface="Cambria Math" panose="02040503050406030204" pitchFamily="18" charset="0"/>
                          </a:rPr>
                        </m:ctrlPr>
                      </m:sSubPr>
                      <m:e>
                        <m:r>
                          <a:rPr lang="en-US" sz="2800" i="1">
                            <a:solidFill>
                              <a:srgbClr val="FFFFFF"/>
                            </a:solidFill>
                            <a:latin typeface="Cambria Math" panose="02040503050406030204" pitchFamily="18" charset="0"/>
                          </a:rPr>
                          <m:t>𝑒</m:t>
                        </m:r>
                      </m:e>
                      <m:sub>
                        <m:r>
                          <a:rPr lang="en-US" sz="2800" i="1">
                            <a:solidFill>
                              <a:srgbClr val="FFFFFF"/>
                            </a:solidFill>
                            <a:latin typeface="Cambria Math" panose="02040503050406030204" pitchFamily="18" charset="0"/>
                          </a:rPr>
                          <m:t>𝑖</m:t>
                        </m:r>
                      </m:sub>
                    </m:sSub>
                  </m:oMath>
                </a14:m>
                <a:r>
                  <a:rPr lang="en-US" sz="2800" dirty="0">
                    <a:solidFill>
                      <a:srgbClr val="FFFFFF"/>
                    </a:solidFill>
                  </a:rPr>
                  <a:t>) </a:t>
                </a:r>
                <a:r>
                  <a:rPr lang="en-US" sz="2800" b="1" dirty="0">
                    <a:solidFill>
                      <a:srgbClr val="FFFFFF"/>
                    </a:solidFill>
                  </a:rPr>
                  <a:t>and</a:t>
                </a:r>
                <a:r>
                  <a:rPr lang="en-US" sz="2800" dirty="0">
                    <a:solidFill>
                      <a:srgbClr val="FFFFFF"/>
                    </a:solidFill>
                  </a:rPr>
                  <a:t> add an artificial variable (</a:t>
                </a:r>
                <a14:m>
                  <m:oMath xmlns:m="http://schemas.openxmlformats.org/officeDocument/2006/math">
                    <m:sSub>
                      <m:sSubPr>
                        <m:ctrlPr>
                          <a:rPr lang="en-US" sz="2800" i="1">
                            <a:solidFill>
                              <a:srgbClr val="FFFFFF"/>
                            </a:solidFill>
                            <a:latin typeface="Cambria Math" panose="02040503050406030204" pitchFamily="18" charset="0"/>
                          </a:rPr>
                        </m:ctrlPr>
                      </m:sSubPr>
                      <m:e>
                        <m:r>
                          <a:rPr lang="en-US" sz="2800" i="1">
                            <a:solidFill>
                              <a:srgbClr val="FFFFFF"/>
                            </a:solidFill>
                            <a:latin typeface="Cambria Math" panose="02040503050406030204" pitchFamily="18" charset="0"/>
                          </a:rPr>
                          <m:t>𝑎</m:t>
                        </m:r>
                      </m:e>
                      <m:sub>
                        <m:r>
                          <a:rPr lang="en-US" sz="2800" i="1">
                            <a:solidFill>
                              <a:srgbClr val="FFFFFF"/>
                            </a:solidFill>
                            <a:latin typeface="Cambria Math" panose="02040503050406030204" pitchFamily="18" charset="0"/>
                          </a:rPr>
                          <m:t>𝑖</m:t>
                        </m:r>
                      </m:sub>
                    </m:sSub>
                    <m:r>
                      <a:rPr lang="en-US" sz="2800" b="0" i="0">
                        <a:solidFill>
                          <a:srgbClr val="FFFFFF"/>
                        </a:solidFill>
                        <a:latin typeface="Cambria Math" panose="02040503050406030204" pitchFamily="18" charset="0"/>
                      </a:rPr>
                      <m:t>).</m:t>
                    </m:r>
                  </m:oMath>
                </a14:m>
                <a:endParaRPr lang="en-US" sz="2800" dirty="0">
                  <a:solidFill>
                    <a:srgbClr val="FFFFFF"/>
                  </a:solidFill>
                </a:endParaRPr>
              </a:p>
            </p:txBody>
          </p:sp>
        </mc:Choice>
        <mc:Fallback xmlns="">
          <p:sp>
            <p:nvSpPr>
              <p:cNvPr id="8" name="TextBox 7">
                <a:extLst>
                  <a:ext uri="{FF2B5EF4-FFF2-40B4-BE49-F238E27FC236}">
                    <a16:creationId xmlns:a16="http://schemas.microsoft.com/office/drawing/2014/main" id="{07259BF0-FE97-9EA7-18E1-80AFD6E296CD}"/>
                  </a:ext>
                </a:extLst>
              </p:cNvPr>
              <p:cNvSpPr txBox="1">
                <a:spLocks noRot="1" noChangeAspect="1" noMove="1" noResize="1" noEditPoints="1" noAdjustHandles="1" noChangeArrowheads="1" noChangeShapeType="1" noTextEdit="1"/>
              </p:cNvSpPr>
              <p:nvPr/>
            </p:nvSpPr>
            <p:spPr>
              <a:xfrm>
                <a:off x="3792682" y="952500"/>
                <a:ext cx="7755850" cy="4449818"/>
              </a:xfrm>
              <a:prstGeom prst="rect">
                <a:avLst/>
              </a:prstGeom>
              <a:blipFill>
                <a:blip r:embed="rId3"/>
                <a:stretch>
                  <a:fillRect l="-1572" t="-274" r="-1336" b="-7397"/>
                </a:stretch>
              </a:blipFill>
            </p:spPr>
            <p:txBody>
              <a:bodyPr/>
              <a:lstStyle/>
              <a:p>
                <a:r>
                  <a:rPr lang="en-ZA">
                    <a:noFill/>
                  </a:rPr>
                  <a:t> </a:t>
                </a:r>
              </a:p>
            </p:txBody>
          </p:sp>
        </mc:Fallback>
      </mc:AlternateContent>
      <p:cxnSp>
        <p:nvCxnSpPr>
          <p:cNvPr id="58" name="Straight Connector 57">
            <a:extLst>
              <a:ext uri="{FF2B5EF4-FFF2-40B4-BE49-F238E27FC236}">
                <a16:creationId xmlns:a16="http://schemas.microsoft.com/office/drawing/2014/main" id="{7B5E59FA-8FDE-43F6-BEAF-F8D715BA55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696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DA644-44D5-2E38-6967-CF5D45D63C80}"/>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FC9D583B-912E-1712-4DA0-17E217CCDFA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E332167-75BC-A73C-B533-6EEC91140D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2F1AE348-BE1B-BF43-36AC-844C14F49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B4BDFC70-C18C-B997-9AD0-D7B474B8C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825897C0-D27E-99B7-70E0-E2A7D012E883}"/>
              </a:ext>
            </a:extLst>
          </p:cNvPr>
          <p:cNvPicPr>
            <a:picLocks noChangeAspect="1"/>
          </p:cNvPicPr>
          <p:nvPr/>
        </p:nvPicPr>
        <p:blipFill>
          <a:blip r:embed="rId2">
            <a:alphaModFix amt="50000"/>
          </a:blip>
          <a:srcRect t="3770" b="2480"/>
          <a:stretch>
            <a:fillRect/>
          </a:stretch>
        </p:blipFill>
        <p:spPr>
          <a:xfrm>
            <a:off x="0" y="0"/>
            <a:ext cx="12192000" cy="6858000"/>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656D0D2-E124-DD07-FCD6-B8AE174F3AFE}"/>
                  </a:ext>
                </a:extLst>
              </p:cNvPr>
              <p:cNvSpPr>
                <a:spLocks noGrp="1"/>
              </p:cNvSpPr>
              <p:nvPr>
                <p:ph type="title"/>
              </p:nvPr>
            </p:nvSpPr>
            <p:spPr>
              <a:xfrm>
                <a:off x="548640" y="952501"/>
                <a:ext cx="5547360" cy="2476499"/>
              </a:xfrm>
            </p:spPr>
            <p:txBody>
              <a:bodyPr vert="horz" lIns="91440" tIns="45720" rIns="91440" bIns="45720" rtlCol="0" anchor="t">
                <a:normAutofit fontScale="90000"/>
              </a:bodyPr>
              <a:lstStyle/>
              <a:p>
                <a:r>
                  <a:rPr lang="en-US" sz="4400" kern="1200" dirty="0">
                    <a:solidFill>
                      <a:srgbClr val="FFFFFF"/>
                    </a:solidFill>
                    <a:latin typeface="+mj-lt"/>
                    <a:ea typeface="+mj-ea"/>
                    <a:cs typeface="+mj-cs"/>
                  </a:rPr>
                  <a:t>Rewrite </a:t>
                </a:r>
                <a:r>
                  <a:rPr lang="en-US" sz="4400" dirty="0">
                    <a:solidFill>
                      <a:srgbClr val="FFFFFF"/>
                    </a:solidFill>
                  </a:rPr>
                  <a:t>Objective function (</a:t>
                </a:r>
                <a14:m>
                  <m:oMath xmlns:m="http://schemas.openxmlformats.org/officeDocument/2006/math">
                    <m:r>
                      <a:rPr lang="en-US" sz="4400" i="1">
                        <a:solidFill>
                          <a:schemeClr val="bg1"/>
                        </a:solidFill>
                        <a:latin typeface="Cambria Math" panose="02040503050406030204" pitchFamily="18" charset="0"/>
                      </a:rPr>
                      <m:t>𝑍</m:t>
                    </m:r>
                  </m:oMath>
                </a14:m>
                <a:r>
                  <a:rPr lang="en-US" sz="4400" dirty="0">
                    <a:solidFill>
                      <a:srgbClr val="FFFFFF"/>
                    </a:solidFill>
                  </a:rPr>
                  <a:t>)</a:t>
                </a:r>
                <a:br>
                  <a:rPr lang="en-US" sz="4400" dirty="0">
                    <a:solidFill>
                      <a:srgbClr val="FFFFFF"/>
                    </a:solidFill>
                  </a:rPr>
                </a:br>
                <a:br>
                  <a:rPr lang="en-US" sz="4400" dirty="0">
                    <a:solidFill>
                      <a:srgbClr val="FFFFFF"/>
                    </a:solidFill>
                  </a:rPr>
                </a:br>
                <a:r>
                  <a:rPr lang="en-US" sz="4400" dirty="0">
                    <a:solidFill>
                      <a:srgbClr val="FFFFFF"/>
                    </a:solidFill>
                  </a:rPr>
                  <a:t>           +</a:t>
                </a:r>
                <a:br>
                  <a:rPr lang="en-US" sz="4400" dirty="0">
                    <a:solidFill>
                      <a:srgbClr val="FFFFFF"/>
                    </a:solidFill>
                  </a:rPr>
                </a:br>
                <a:br>
                  <a:rPr lang="en-US" sz="4400" dirty="0">
                    <a:solidFill>
                      <a:srgbClr val="FFFFFF"/>
                    </a:solidFill>
                  </a:rPr>
                </a:br>
                <a:r>
                  <a:rPr lang="en-US" sz="4400" dirty="0">
                    <a:solidFill>
                      <a:srgbClr val="FFFFFF"/>
                    </a:solidFill>
                  </a:rPr>
                  <a:t>Add new Objective function (W)</a:t>
                </a:r>
                <a:endParaRPr lang="en-US" sz="4400" kern="1200" dirty="0">
                  <a:solidFill>
                    <a:srgbClr val="FFFFFF"/>
                  </a:solidFill>
                  <a:latin typeface="+mj-lt"/>
                  <a:ea typeface="+mj-ea"/>
                  <a:cs typeface="+mj-cs"/>
                </a:endParaRPr>
              </a:p>
            </p:txBody>
          </p:sp>
        </mc:Choice>
        <mc:Fallback xmlns="">
          <p:sp>
            <p:nvSpPr>
              <p:cNvPr id="2" name="Title 1">
                <a:extLst>
                  <a:ext uri="{FF2B5EF4-FFF2-40B4-BE49-F238E27FC236}">
                    <a16:creationId xmlns:a16="http://schemas.microsoft.com/office/drawing/2014/main" id="{B656D0D2-E124-DD07-FCD6-B8AE174F3AFE}"/>
                  </a:ext>
                </a:extLst>
              </p:cNvPr>
              <p:cNvSpPr>
                <a:spLocks noGrp="1" noRot="1" noChangeAspect="1" noMove="1" noResize="1" noEditPoints="1" noAdjustHandles="1" noChangeArrowheads="1" noChangeShapeType="1" noTextEdit="1"/>
              </p:cNvSpPr>
              <p:nvPr>
                <p:ph type="title"/>
              </p:nvPr>
            </p:nvSpPr>
            <p:spPr>
              <a:xfrm>
                <a:off x="548640" y="952501"/>
                <a:ext cx="5547360" cy="2476499"/>
              </a:xfrm>
              <a:blipFill>
                <a:blip r:embed="rId3"/>
                <a:stretch>
                  <a:fillRect l="-3846" t="-8108" b="-60442"/>
                </a:stretch>
              </a:blipFill>
            </p:spPr>
            <p:txBody>
              <a:bodyPr/>
              <a:lstStyle/>
              <a:p>
                <a:r>
                  <a:rPr lang="en-ZA">
                    <a:noFill/>
                  </a:rPr>
                  <a:t> </a:t>
                </a:r>
              </a:p>
            </p:txBody>
          </p:sp>
        </mc:Fallback>
      </mc:AlternateContent>
      <p:cxnSp>
        <p:nvCxnSpPr>
          <p:cNvPr id="56" name="Straight Connector 55">
            <a:extLst>
              <a:ext uri="{FF2B5EF4-FFF2-40B4-BE49-F238E27FC236}">
                <a16:creationId xmlns:a16="http://schemas.microsoft.com/office/drawing/2014/main" id="{F601DA7E-A4EA-34FA-DF06-7F1C90F7F08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CA57579-A6D9-934A-8717-60DAF333F9E0}"/>
                  </a:ext>
                </a:extLst>
              </p:cNvPr>
              <p:cNvSpPr txBox="1"/>
              <p:nvPr/>
            </p:nvSpPr>
            <p:spPr>
              <a:xfrm>
                <a:off x="5013434" y="952500"/>
                <a:ext cx="6535098" cy="5080438"/>
              </a:xfrm>
              <a:prstGeom prst="rect">
                <a:avLst/>
              </a:prstGeom>
            </p:spPr>
            <p:txBody>
              <a:bodyPr vert="horz" lIns="91440" tIns="45720" rIns="91440" bIns="45720" rtlCol="0">
                <a:normAutofit fontScale="70000" lnSpcReduction="20000"/>
              </a:bodyPr>
              <a:lstStyle/>
              <a:p>
                <a:pPr indent="-228600">
                  <a:lnSpc>
                    <a:spcPct val="120000"/>
                  </a:lnSpc>
                  <a:spcAft>
                    <a:spcPts val="600"/>
                  </a:spcAft>
                  <a:buFont typeface="Arial" panose="020B0604020202020204" pitchFamily="34" charset="0"/>
                  <a:buChar char="•"/>
                </a:pPr>
                <a:r>
                  <a:rPr lang="en-US" b="1" dirty="0">
                    <a:solidFill>
                      <a:schemeClr val="bg1"/>
                    </a:solidFill>
                  </a:rPr>
                  <a:t>Prepare the </a:t>
                </a:r>
                <a14:m>
                  <m:oMath xmlns:m="http://schemas.openxmlformats.org/officeDocument/2006/math">
                    <m:r>
                      <a:rPr lang="en-US" i="1">
                        <a:solidFill>
                          <a:schemeClr val="bg1"/>
                        </a:solidFill>
                        <a:latin typeface="Cambria Math" panose="02040503050406030204" pitchFamily="18" charset="0"/>
                      </a:rPr>
                      <m:t>𝑍</m:t>
                    </m:r>
                    <m:r>
                      <a:rPr lang="en-ZA" b="1" i="0" smtClean="0">
                        <a:solidFill>
                          <a:schemeClr val="bg1"/>
                        </a:solidFill>
                        <a:latin typeface="Cambria Math" panose="02040503050406030204" pitchFamily="18" charset="0"/>
                      </a:rPr>
                      <m:t> </m:t>
                    </m:r>
                  </m:oMath>
                </a14:m>
                <a:r>
                  <a:rPr lang="en-US" b="1" dirty="0">
                    <a:solidFill>
                      <a:schemeClr val="bg1"/>
                    </a:solidFill>
                  </a:rPr>
                  <a:t>row:</a:t>
                </a:r>
                <a:r>
                  <a:rPr lang="en-US" dirty="0">
                    <a:solidFill>
                      <a:schemeClr val="bg1"/>
                    </a:solidFill>
                  </a:rPr>
                  <a:t> </a:t>
                </a:r>
              </a:p>
              <a:p>
                <a:pPr>
                  <a:lnSpc>
                    <a:spcPct val="120000"/>
                  </a:lnSpc>
                  <a:spcAft>
                    <a:spcPts val="600"/>
                  </a:spcAft>
                </a:pPr>
                <a:r>
                  <a:rPr lang="en-US" dirty="0">
                    <a:solidFill>
                      <a:schemeClr val="bg1"/>
                    </a:solidFill>
                  </a:rPr>
                  <a:t>Move all variable terms to the same side as </a:t>
                </a:r>
                <a14:m>
                  <m:oMath xmlns:m="http://schemas.openxmlformats.org/officeDocument/2006/math">
                    <m:r>
                      <a:rPr lang="en-US" i="1">
                        <a:solidFill>
                          <a:schemeClr val="bg1"/>
                        </a:solidFill>
                        <a:latin typeface="Cambria Math" panose="02040503050406030204" pitchFamily="18" charset="0"/>
                      </a:rPr>
                      <m:t>𝑍</m:t>
                    </m:r>
                    <m:r>
                      <a:rPr lang="en-ZA" b="0" i="0" smtClean="0">
                        <a:solidFill>
                          <a:schemeClr val="bg1"/>
                        </a:solidFill>
                        <a:latin typeface="Cambria Math" panose="02040503050406030204" pitchFamily="18" charset="0"/>
                      </a:rPr>
                      <m:t> </m:t>
                    </m:r>
                  </m:oMath>
                </a14:m>
                <a:r>
                  <a:rPr lang="en-US" dirty="0">
                    <a:solidFill>
                      <a:schemeClr val="bg1"/>
                    </a:solidFill>
                  </a:rPr>
                  <a:t>and set the equation to zero. Ensure the coefficient of </a:t>
                </a:r>
                <a14:m>
                  <m:oMath xmlns:m="http://schemas.openxmlformats.org/officeDocument/2006/math">
                    <m:r>
                      <a:rPr lang="en-US" i="1">
                        <a:solidFill>
                          <a:schemeClr val="bg1"/>
                        </a:solidFill>
                        <a:latin typeface="Cambria Math" panose="02040503050406030204" pitchFamily="18" charset="0"/>
                      </a:rPr>
                      <m:t>𝑍</m:t>
                    </m:r>
                  </m:oMath>
                </a14:m>
                <a:r>
                  <a:rPr lang="en-US" dirty="0">
                    <a:solidFill>
                      <a:schemeClr val="bg1"/>
                    </a:solidFill>
                  </a:rPr>
                  <a:t> is positive.</a:t>
                </a:r>
              </a:p>
              <a:p>
                <a:pPr>
                  <a:lnSpc>
                    <a:spcPct val="120000"/>
                  </a:lnSpc>
                  <a:spcAft>
                    <a:spcPts val="600"/>
                  </a:spcAft>
                </a:pPr>
                <a:endParaRPr lang="en-US" dirty="0">
                  <a:solidFill>
                    <a:schemeClr val="bg1"/>
                  </a:solidFill>
                </a:endParaRPr>
              </a:p>
              <a:p>
                <a:pPr indent="-228600">
                  <a:lnSpc>
                    <a:spcPct val="120000"/>
                  </a:lnSpc>
                  <a:spcAft>
                    <a:spcPts val="600"/>
                  </a:spcAft>
                  <a:buFont typeface="Arial" panose="020B0604020202020204" pitchFamily="34" charset="0"/>
                  <a:buChar char="•"/>
                </a:pPr>
                <a:r>
                  <a:rPr lang="en-ZA" b="1" dirty="0">
                    <a:solidFill>
                      <a:schemeClr val="bg1"/>
                    </a:solidFill>
                  </a:rPr>
                  <a:t>Define the </a:t>
                </a:r>
                <a14:m>
                  <m:oMath xmlns:m="http://schemas.openxmlformats.org/officeDocument/2006/math">
                    <m:r>
                      <a:rPr lang="en-ZA" i="1">
                        <a:solidFill>
                          <a:schemeClr val="bg1"/>
                        </a:solidFill>
                        <a:latin typeface="Cambria Math" panose="02040503050406030204" pitchFamily="18" charset="0"/>
                      </a:rPr>
                      <m:t>𝑊</m:t>
                    </m:r>
                    <m:r>
                      <a:rPr lang="en-ZA" b="0" i="1" smtClean="0">
                        <a:solidFill>
                          <a:schemeClr val="bg1"/>
                        </a:solidFill>
                        <a:latin typeface="Cambria Math" panose="02040503050406030204" pitchFamily="18" charset="0"/>
                      </a:rPr>
                      <m:t> </m:t>
                    </m:r>
                  </m:oMath>
                </a14:m>
                <a:r>
                  <a:rPr lang="en-ZA" b="1" dirty="0">
                    <a:solidFill>
                      <a:schemeClr val="bg1"/>
                    </a:solidFill>
                  </a:rPr>
                  <a:t>function:</a:t>
                </a:r>
              </a:p>
              <a:p>
                <a:r>
                  <a:rPr lang="en-ZA" dirty="0"/>
                  <a:t> </a:t>
                </a:r>
                <a:r>
                  <a:rPr lang="en-ZA" dirty="0">
                    <a:solidFill>
                      <a:schemeClr val="bg1"/>
                    </a:solidFill>
                  </a:rPr>
                  <a:t>In Phase 1, we aim to eliminate artificial variables. Set </a:t>
                </a:r>
                <a14:m>
                  <m:oMath xmlns:m="http://schemas.openxmlformats.org/officeDocument/2006/math">
                    <m:r>
                      <a:rPr lang="en-ZA" i="1">
                        <a:solidFill>
                          <a:schemeClr val="bg1"/>
                        </a:solidFill>
                        <a:latin typeface="Cambria Math" panose="02040503050406030204" pitchFamily="18" charset="0"/>
                      </a:rPr>
                      <m:t>𝑊</m:t>
                    </m:r>
                    <m:r>
                      <a:rPr lang="en-ZA" b="0" i="1" smtClean="0">
                        <a:solidFill>
                          <a:schemeClr val="bg1"/>
                        </a:solidFill>
                        <a:latin typeface="Cambria Math" panose="02040503050406030204" pitchFamily="18" charset="0"/>
                      </a:rPr>
                      <m:t> </m:t>
                    </m:r>
                  </m:oMath>
                </a14:m>
                <a:r>
                  <a:rPr lang="en-ZA" dirty="0">
                    <a:solidFill>
                      <a:schemeClr val="bg1"/>
                    </a:solidFill>
                  </a:rPr>
                  <a:t>equal to the sum of all artificial variables: </a:t>
                </a:r>
                <a14:m>
                  <m:oMath xmlns:m="http://schemas.openxmlformats.org/officeDocument/2006/math">
                    <m:r>
                      <a:rPr lang="en-ZA" i="1">
                        <a:solidFill>
                          <a:schemeClr val="bg1"/>
                        </a:solidFill>
                        <a:latin typeface="Cambria Math" panose="02040503050406030204" pitchFamily="18" charset="0"/>
                      </a:rPr>
                      <m:t>𝑊</m:t>
                    </m:r>
                    <m:r>
                      <a:rPr lang="en-ZA">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𝑎</m:t>
                        </m:r>
                      </m:e>
                      <m:sub>
                        <m:r>
                          <a:rPr lang="ar-AE">
                            <a:solidFill>
                              <a:schemeClr val="bg1"/>
                            </a:solidFill>
                            <a:latin typeface="Cambria Math" panose="02040503050406030204" pitchFamily="18" charset="0"/>
                          </a:rPr>
                          <m:t>1</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𝑎</m:t>
                        </m:r>
                      </m:e>
                      <m:sub>
                        <m:r>
                          <a:rPr lang="ar-AE">
                            <a:solidFill>
                              <a:schemeClr val="bg1"/>
                            </a:solidFill>
                            <a:latin typeface="Cambria Math" panose="02040503050406030204" pitchFamily="18" charset="0"/>
                          </a:rPr>
                          <m:t>2</m:t>
                        </m:r>
                      </m:sub>
                    </m:sSub>
                    <m:r>
                      <a:rPr lang="ar-AE">
                        <a:solidFill>
                          <a:schemeClr val="bg1"/>
                        </a:solidFill>
                        <a:latin typeface="Cambria Math" panose="02040503050406030204" pitchFamily="18" charset="0"/>
                      </a:rPr>
                      <m:t>+…</m:t>
                    </m:r>
                  </m:oMath>
                </a14:m>
                <a:endParaRPr lang="en-US" dirty="0">
                  <a:solidFill>
                    <a:schemeClr val="bg1"/>
                  </a:solidFill>
                </a:endParaRPr>
              </a:p>
              <a:p>
                <a:endParaRPr lang="en-US" dirty="0">
                  <a:solidFill>
                    <a:schemeClr val="bg1"/>
                  </a:solidFill>
                </a:endParaRPr>
              </a:p>
              <a:p>
                <a:endParaRPr lang="en-US" dirty="0">
                  <a:solidFill>
                    <a:schemeClr val="bg1"/>
                  </a:solidFill>
                </a:endParaRPr>
              </a:p>
              <a:p>
                <a:pPr indent="-228600">
                  <a:lnSpc>
                    <a:spcPct val="120000"/>
                  </a:lnSpc>
                  <a:spcAft>
                    <a:spcPts val="600"/>
                  </a:spcAft>
                  <a:buFont typeface="Arial" panose="020B0604020202020204" pitchFamily="34" charset="0"/>
                  <a:buChar char="•"/>
                </a:pPr>
                <a:r>
                  <a:rPr lang="en-ZA" b="1" dirty="0">
                    <a:solidFill>
                      <a:schemeClr val="bg1"/>
                    </a:solidFill>
                  </a:rPr>
                  <a:t>Isolate Artificial Variables:</a:t>
                </a:r>
              </a:p>
              <a:p>
                <a:pPr>
                  <a:lnSpc>
                    <a:spcPct val="120000"/>
                  </a:lnSpc>
                  <a:spcAft>
                    <a:spcPts val="600"/>
                  </a:spcAft>
                </a:pPr>
                <a:r>
                  <a:rPr lang="en-ZA" dirty="0">
                    <a:solidFill>
                      <a:schemeClr val="bg1"/>
                    </a:solidFill>
                  </a:rPr>
                  <a:t>From your constraint equations, rewrite each one to make the artificial variable (</a:t>
                </a:r>
                <a14:m>
                  <m:oMath xmlns:m="http://schemas.openxmlformats.org/officeDocument/2006/math">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𝑎</m:t>
                        </m:r>
                      </m:e>
                      <m:sub>
                        <m:r>
                          <a:rPr lang="ar-AE" i="1">
                            <a:solidFill>
                              <a:schemeClr val="bg1"/>
                            </a:solidFill>
                            <a:latin typeface="Cambria Math" panose="02040503050406030204" pitchFamily="18" charset="0"/>
                          </a:rPr>
                          <m:t>𝑖</m:t>
                        </m:r>
                      </m:sub>
                    </m:sSub>
                    <m:r>
                      <a:rPr lang="en-ZA" b="0" i="1" smtClean="0">
                        <a:solidFill>
                          <a:schemeClr val="bg1"/>
                        </a:solidFill>
                        <a:latin typeface="Cambria Math" panose="02040503050406030204" pitchFamily="18" charset="0"/>
                      </a:rPr>
                      <m:t>)</m:t>
                    </m:r>
                  </m:oMath>
                </a14:m>
                <a:r>
                  <a:rPr lang="ar-AE" dirty="0">
                    <a:solidFill>
                      <a:schemeClr val="bg1"/>
                    </a:solidFill>
                  </a:rPr>
                  <a:t> </a:t>
                </a:r>
                <a:r>
                  <a:rPr lang="en-ZA" dirty="0">
                    <a:solidFill>
                      <a:schemeClr val="bg1"/>
                    </a:solidFill>
                  </a:rPr>
                  <a:t>the subject.</a:t>
                </a:r>
              </a:p>
              <a:p>
                <a:pPr>
                  <a:lnSpc>
                    <a:spcPct val="120000"/>
                  </a:lnSpc>
                  <a:spcAft>
                    <a:spcPts val="600"/>
                  </a:spcAft>
                </a:pPr>
                <a:endParaRPr lang="en-ZA" b="1" dirty="0">
                  <a:solidFill>
                    <a:schemeClr val="bg1"/>
                  </a:solidFill>
                </a:endParaRPr>
              </a:p>
              <a:p>
                <a:pPr indent="-228600">
                  <a:lnSpc>
                    <a:spcPct val="120000"/>
                  </a:lnSpc>
                  <a:spcAft>
                    <a:spcPts val="600"/>
                  </a:spcAft>
                  <a:buFont typeface="Arial" panose="020B0604020202020204" pitchFamily="34" charset="0"/>
                  <a:buChar char="•"/>
                </a:pPr>
                <a:r>
                  <a:rPr lang="en-ZA" b="1" dirty="0">
                    <a:solidFill>
                      <a:schemeClr val="bg1"/>
                    </a:solidFill>
                  </a:rPr>
                  <a:t>Substitute into </a:t>
                </a:r>
                <a14:m>
                  <m:oMath xmlns:m="http://schemas.openxmlformats.org/officeDocument/2006/math">
                    <m:r>
                      <a:rPr lang="en-ZA" i="1">
                        <a:solidFill>
                          <a:schemeClr val="bg1"/>
                        </a:solidFill>
                        <a:latin typeface="Cambria Math" panose="02040503050406030204" pitchFamily="18" charset="0"/>
                      </a:rPr>
                      <m:t>𝑊</m:t>
                    </m:r>
                  </m:oMath>
                </a14:m>
                <a:r>
                  <a:rPr lang="en-ZA" b="1" dirty="0">
                    <a:solidFill>
                      <a:schemeClr val="bg1"/>
                    </a:solidFill>
                  </a:rPr>
                  <a:t> :</a:t>
                </a:r>
                <a:r>
                  <a:rPr lang="en-ZA" dirty="0">
                    <a:solidFill>
                      <a:schemeClr val="bg1"/>
                    </a:solidFill>
                  </a:rPr>
                  <a:t> </a:t>
                </a:r>
              </a:p>
              <a:p>
                <a:pPr>
                  <a:lnSpc>
                    <a:spcPct val="120000"/>
                  </a:lnSpc>
                  <a:spcAft>
                    <a:spcPts val="600"/>
                  </a:spcAft>
                </a:pPr>
                <a:r>
                  <a:rPr lang="en-US" dirty="0">
                    <a:solidFill>
                      <a:schemeClr val="bg1"/>
                    </a:solidFill>
                  </a:rPr>
                  <a:t>Substitute these expressions into your </a:t>
                </a:r>
                <a14:m>
                  <m:oMath xmlns:m="http://schemas.openxmlformats.org/officeDocument/2006/math">
                    <m:r>
                      <a:rPr lang="en-US" i="1">
                        <a:solidFill>
                          <a:schemeClr val="bg1"/>
                        </a:solidFill>
                        <a:latin typeface="Cambria Math" panose="02040503050406030204" pitchFamily="18" charset="0"/>
                      </a:rPr>
                      <m:t>𝑊</m:t>
                    </m:r>
                    <m:r>
                      <a:rPr lang="en-ZA" b="0" i="0" smtClean="0">
                        <a:solidFill>
                          <a:schemeClr val="bg1"/>
                        </a:solidFill>
                        <a:latin typeface="Cambria Math" panose="02040503050406030204" pitchFamily="18" charset="0"/>
                      </a:rPr>
                      <m:t> </m:t>
                    </m:r>
                  </m:oMath>
                </a14:m>
                <a:r>
                  <a:rPr lang="en-US" dirty="0">
                    <a:solidFill>
                      <a:schemeClr val="bg1"/>
                    </a:solidFill>
                  </a:rPr>
                  <a:t>equation. This ensures the </a:t>
                </a:r>
                <a14:m>
                  <m:oMath xmlns:m="http://schemas.openxmlformats.org/officeDocument/2006/math">
                    <m:r>
                      <a:rPr lang="en-US" i="1">
                        <a:solidFill>
                          <a:schemeClr val="bg1"/>
                        </a:solidFill>
                        <a:latin typeface="Cambria Math" panose="02040503050406030204" pitchFamily="18" charset="0"/>
                      </a:rPr>
                      <m:t>𝑊</m:t>
                    </m:r>
                  </m:oMath>
                </a14:m>
                <a:r>
                  <a:rPr lang="en-US" dirty="0">
                    <a:solidFill>
                      <a:schemeClr val="bg1"/>
                    </a:solidFill>
                  </a:rPr>
                  <a:t>-row in your starting tableau is mathematically consistent.</a:t>
                </a:r>
              </a:p>
              <a:p>
                <a:pPr>
                  <a:lnSpc>
                    <a:spcPct val="120000"/>
                  </a:lnSpc>
                  <a:spcAft>
                    <a:spcPts val="600"/>
                  </a:spcAft>
                </a:pPr>
                <a:endParaRPr lang="en-ZA" dirty="0">
                  <a:solidFill>
                    <a:schemeClr val="bg1"/>
                  </a:solidFill>
                </a:endParaRPr>
              </a:p>
              <a:p>
                <a:pPr indent="-228600">
                  <a:lnSpc>
                    <a:spcPct val="120000"/>
                  </a:lnSpc>
                  <a:spcAft>
                    <a:spcPts val="600"/>
                  </a:spcAft>
                  <a:buFont typeface="Arial" panose="020B0604020202020204" pitchFamily="34" charset="0"/>
                  <a:buChar char="•"/>
                </a:pPr>
                <a:r>
                  <a:rPr lang="en-US" b="1" dirty="0">
                    <a:solidFill>
                      <a:schemeClr val="bg1"/>
                    </a:solidFill>
                  </a:rPr>
                  <a:t>Prepare the </a:t>
                </a:r>
                <a14:m>
                  <m:oMath xmlns:m="http://schemas.openxmlformats.org/officeDocument/2006/math">
                    <m:r>
                      <a:rPr lang="en-ZA" b="1" i="0" smtClean="0">
                        <a:solidFill>
                          <a:schemeClr val="bg1"/>
                        </a:solidFill>
                        <a:latin typeface="Cambria Math" panose="02040503050406030204" pitchFamily="18" charset="0"/>
                      </a:rPr>
                      <m:t>𝐰</m:t>
                    </m:r>
                    <m:r>
                      <a:rPr lang="en-ZA" b="1" i="0" smtClean="0">
                        <a:solidFill>
                          <a:schemeClr val="bg1"/>
                        </a:solidFill>
                        <a:latin typeface="Cambria Math" panose="02040503050406030204" pitchFamily="18" charset="0"/>
                      </a:rPr>
                      <m:t> </m:t>
                    </m:r>
                  </m:oMath>
                </a14:m>
                <a:r>
                  <a:rPr lang="en-US" b="1" dirty="0">
                    <a:solidFill>
                      <a:schemeClr val="bg1"/>
                    </a:solidFill>
                  </a:rPr>
                  <a:t>row:</a:t>
                </a:r>
                <a:r>
                  <a:rPr lang="en-US" dirty="0">
                    <a:solidFill>
                      <a:schemeClr val="bg1"/>
                    </a:solidFill>
                  </a:rPr>
                  <a:t> </a:t>
                </a:r>
                <a:endParaRPr lang="en-ZA" dirty="0">
                  <a:solidFill>
                    <a:schemeClr val="bg1"/>
                  </a:solidFill>
                </a:endParaRPr>
              </a:p>
              <a:p>
                <a:pPr>
                  <a:lnSpc>
                    <a:spcPct val="120000"/>
                  </a:lnSpc>
                  <a:spcAft>
                    <a:spcPts val="600"/>
                  </a:spcAft>
                </a:pPr>
                <a:r>
                  <a:rPr lang="en-US" dirty="0">
                    <a:solidFill>
                      <a:schemeClr val="bg1"/>
                    </a:solidFill>
                  </a:rPr>
                  <a:t>Move all variable terms to the same side as </a:t>
                </a:r>
                <a14:m>
                  <m:oMath xmlns:m="http://schemas.openxmlformats.org/officeDocument/2006/math">
                    <m:r>
                      <a:rPr lang="en-ZA" i="1">
                        <a:solidFill>
                          <a:schemeClr val="bg1"/>
                        </a:solidFill>
                        <a:latin typeface="Cambria Math" panose="02040503050406030204" pitchFamily="18" charset="0"/>
                      </a:rPr>
                      <m:t>𝑊</m:t>
                    </m:r>
                  </m:oMath>
                </a14:m>
                <a:r>
                  <a:rPr lang="en-US" dirty="0">
                    <a:solidFill>
                      <a:schemeClr val="bg1"/>
                    </a:solidFill>
                  </a:rPr>
                  <a:t> and set the equation to a constant . Ensure the coefficient of </a:t>
                </a:r>
                <a14:m>
                  <m:oMath xmlns:m="http://schemas.openxmlformats.org/officeDocument/2006/math">
                    <m:r>
                      <a:rPr lang="en-ZA" i="1">
                        <a:solidFill>
                          <a:schemeClr val="bg1"/>
                        </a:solidFill>
                        <a:latin typeface="Cambria Math" panose="02040503050406030204" pitchFamily="18" charset="0"/>
                      </a:rPr>
                      <m:t>𝑊</m:t>
                    </m:r>
                  </m:oMath>
                </a14:m>
                <a:r>
                  <a:rPr lang="en-US" dirty="0">
                    <a:solidFill>
                      <a:schemeClr val="bg1"/>
                    </a:solidFill>
                  </a:rPr>
                  <a:t> is positive.</a:t>
                </a:r>
              </a:p>
              <a:p>
                <a:pPr>
                  <a:lnSpc>
                    <a:spcPct val="120000"/>
                  </a:lnSpc>
                  <a:spcAft>
                    <a:spcPts val="600"/>
                  </a:spcAft>
                </a:pPr>
                <a:endParaRPr lang="en-US" dirty="0">
                  <a:solidFill>
                    <a:schemeClr val="bg1"/>
                  </a:solidFill>
                </a:endParaRPr>
              </a:p>
            </p:txBody>
          </p:sp>
        </mc:Choice>
        <mc:Fallback xmlns="">
          <p:sp>
            <p:nvSpPr>
              <p:cNvPr id="8" name="TextBox 7">
                <a:extLst>
                  <a:ext uri="{FF2B5EF4-FFF2-40B4-BE49-F238E27FC236}">
                    <a16:creationId xmlns:a16="http://schemas.microsoft.com/office/drawing/2014/main" id="{FCA57579-A6D9-934A-8717-60DAF333F9E0}"/>
                  </a:ext>
                </a:extLst>
              </p:cNvPr>
              <p:cNvSpPr txBox="1">
                <a:spLocks noRot="1" noChangeAspect="1" noMove="1" noResize="1" noEditPoints="1" noAdjustHandles="1" noChangeArrowheads="1" noChangeShapeType="1" noTextEdit="1"/>
              </p:cNvSpPr>
              <p:nvPr/>
            </p:nvSpPr>
            <p:spPr>
              <a:xfrm>
                <a:off x="5013434" y="952500"/>
                <a:ext cx="6535098" cy="5080438"/>
              </a:xfrm>
              <a:prstGeom prst="rect">
                <a:avLst/>
              </a:prstGeom>
              <a:blipFill>
                <a:blip r:embed="rId4"/>
                <a:stretch>
                  <a:fillRect l="-93" r="-653"/>
                </a:stretch>
              </a:blipFill>
            </p:spPr>
            <p:txBody>
              <a:bodyPr/>
              <a:lstStyle/>
              <a:p>
                <a:r>
                  <a:rPr lang="en-ZA">
                    <a:noFill/>
                  </a:rPr>
                  <a:t> </a:t>
                </a:r>
              </a:p>
            </p:txBody>
          </p:sp>
        </mc:Fallback>
      </mc:AlternateContent>
      <p:cxnSp>
        <p:nvCxnSpPr>
          <p:cNvPr id="58" name="Straight Connector 57">
            <a:extLst>
              <a:ext uri="{FF2B5EF4-FFF2-40B4-BE49-F238E27FC236}">
                <a16:creationId xmlns:a16="http://schemas.microsoft.com/office/drawing/2014/main" id="{54F5D585-4688-880C-FF5E-9A7EBF8BD6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6872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2ABAD-1EA9-6D1C-6B19-11C1B133CB9B}"/>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6AD78F7E-289C-E5BC-D81F-945005596B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ED7A44F-B99D-91B1-FD66-928AC8A41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C3480713-0A10-7964-B669-3DAAE6B28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6CD71147-D143-7295-7B71-034C85FC7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56A1379E-44DB-4E3A-CBC7-C19B6C75CB9A}"/>
              </a:ext>
            </a:extLst>
          </p:cNvPr>
          <p:cNvPicPr>
            <a:picLocks noChangeAspect="1"/>
          </p:cNvPicPr>
          <p:nvPr/>
        </p:nvPicPr>
        <p:blipFill>
          <a:blip r:embed="rId2">
            <a:alphaModFix amt="50000"/>
          </a:blip>
          <a:srcRect t="3770" b="2480"/>
          <a:stretch>
            <a:fillRect/>
          </a:stretch>
        </p:blipFill>
        <p:spPr>
          <a:xfrm>
            <a:off x="0" y="-114299"/>
            <a:ext cx="12192000" cy="6858000"/>
          </a:xfrm>
          <a:prstGeom prst="rect">
            <a:avLst/>
          </a:prstGeom>
        </p:spPr>
      </p:pic>
      <p:sp>
        <p:nvSpPr>
          <p:cNvPr id="2" name="Title 1">
            <a:extLst>
              <a:ext uri="{FF2B5EF4-FFF2-40B4-BE49-F238E27FC236}">
                <a16:creationId xmlns:a16="http://schemas.microsoft.com/office/drawing/2014/main" id="{6F607A5B-1A73-D0B8-030A-A687AF4FE24F}"/>
              </a:ext>
            </a:extLst>
          </p:cNvPr>
          <p:cNvSpPr>
            <a:spLocks noGrp="1"/>
          </p:cNvSpPr>
          <p:nvPr>
            <p:ph type="title"/>
          </p:nvPr>
        </p:nvSpPr>
        <p:spPr>
          <a:xfrm>
            <a:off x="496759" y="1033033"/>
            <a:ext cx="4660594" cy="645088"/>
          </a:xfrm>
        </p:spPr>
        <p:txBody>
          <a:bodyPr vert="horz" lIns="91440" tIns="45720" rIns="91440" bIns="45720" rtlCol="0" anchor="t">
            <a:normAutofit fontScale="90000"/>
          </a:bodyPr>
          <a:lstStyle/>
          <a:p>
            <a:r>
              <a:rPr lang="en-US" sz="4400" dirty="0">
                <a:solidFill>
                  <a:srgbClr val="FFFFFF"/>
                </a:solidFill>
              </a:rPr>
              <a:t>Setup 1</a:t>
            </a:r>
            <a:r>
              <a:rPr lang="en-US" sz="4400" baseline="30000" dirty="0">
                <a:solidFill>
                  <a:srgbClr val="FFFFFF"/>
                </a:solidFill>
              </a:rPr>
              <a:t>st</a:t>
            </a:r>
            <a:r>
              <a:rPr lang="en-US" sz="4400" dirty="0">
                <a:solidFill>
                  <a:srgbClr val="FFFFFF"/>
                </a:solidFill>
              </a:rPr>
              <a:t> Tableau</a:t>
            </a:r>
            <a:br>
              <a:rPr lang="en-US" sz="4400" dirty="0">
                <a:solidFill>
                  <a:srgbClr val="FFFFFF"/>
                </a:solidFill>
              </a:rPr>
            </a:br>
            <a:r>
              <a:rPr lang="en-US" sz="4400" dirty="0">
                <a:solidFill>
                  <a:srgbClr val="FFFFFF"/>
                </a:solidFill>
              </a:rPr>
              <a:t>   (Phase 1 start)</a:t>
            </a:r>
            <a:br>
              <a:rPr lang="en-US" sz="4400" dirty="0">
                <a:solidFill>
                  <a:srgbClr val="FFFFFF"/>
                </a:solidFill>
              </a:rPr>
            </a:br>
            <a:endParaRPr lang="en-US" sz="4400" kern="1200" dirty="0">
              <a:solidFill>
                <a:srgbClr val="FFFFFF"/>
              </a:solidFill>
              <a:latin typeface="+mj-lt"/>
              <a:ea typeface="+mj-ea"/>
              <a:cs typeface="+mj-cs"/>
            </a:endParaRPr>
          </a:p>
        </p:txBody>
      </p:sp>
      <p:cxnSp>
        <p:nvCxnSpPr>
          <p:cNvPr id="56" name="Straight Connector 55">
            <a:extLst>
              <a:ext uri="{FF2B5EF4-FFF2-40B4-BE49-F238E27FC236}">
                <a16:creationId xmlns:a16="http://schemas.microsoft.com/office/drawing/2014/main" id="{316C7B45-C14C-A769-4275-6214241C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6951ED4-3F62-2331-0027-80EDC5851092}"/>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cxnSp>
        <p:nvCxnSpPr>
          <p:cNvPr id="58" name="Straight Connector 57">
            <a:extLst>
              <a:ext uri="{FF2B5EF4-FFF2-40B4-BE49-F238E27FC236}">
                <a16:creationId xmlns:a16="http://schemas.microsoft.com/office/drawing/2014/main" id="{F5321D6A-DF50-533C-BDB3-19CAA4DC2E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7303EC-FAE0-C3EB-B3E5-B93C83CDDF27}"/>
                  </a:ext>
                </a:extLst>
              </p:cNvPr>
              <p:cNvSpPr txBox="1"/>
              <p:nvPr/>
            </p:nvSpPr>
            <p:spPr>
              <a:xfrm>
                <a:off x="5235676" y="792088"/>
                <a:ext cx="5648409" cy="5355312"/>
              </a:xfrm>
              <a:prstGeom prst="rect">
                <a:avLst/>
              </a:prstGeom>
              <a:noFill/>
            </p:spPr>
            <p:txBody>
              <a:bodyPr wrap="square" rtlCol="0">
                <a:spAutoFit/>
              </a:bodyPr>
              <a:lstStyle/>
              <a:p>
                <a:r>
                  <a:rPr lang="en-US" b="1" dirty="0">
                    <a:solidFill>
                      <a:schemeClr val="bg1"/>
                    </a:solidFill>
                  </a:rPr>
                  <a:t>1 - Row Setup:</a:t>
                </a:r>
                <a:r>
                  <a:rPr lang="en-US" dirty="0">
                    <a:solidFill>
                      <a:schemeClr val="bg1"/>
                    </a:solidFill>
                  </a:rPr>
                  <a:t> Create two </a:t>
                </a:r>
                <a:r>
                  <a:rPr lang="en-US" b="1" dirty="0">
                    <a:solidFill>
                      <a:schemeClr val="bg1"/>
                    </a:solidFill>
                  </a:rPr>
                  <a:t>Objective Rows</a:t>
                </a:r>
                <a:r>
                  <a:rPr lang="en-US" dirty="0">
                    <a:solidFill>
                      <a:schemeClr val="bg1"/>
                    </a:solidFill>
                  </a:rPr>
                  <a:t> (</a:t>
                </a:r>
                <a14:m>
                  <m:oMath xmlns:m="http://schemas.openxmlformats.org/officeDocument/2006/math">
                    <m:r>
                      <a:rPr lang="en-US" i="1">
                        <a:solidFill>
                          <a:schemeClr val="bg1"/>
                        </a:solidFill>
                        <a:latin typeface="Cambria Math" panose="02040503050406030204" pitchFamily="18" charset="0"/>
                      </a:rPr>
                      <m:t>𝑊</m:t>
                    </m:r>
                    <m:r>
                      <a:rPr lang="en-ZA" b="0" i="0" smtClean="0">
                        <a:solidFill>
                          <a:schemeClr val="bg1"/>
                        </a:solidFill>
                        <a:latin typeface="Cambria Math" panose="02040503050406030204" pitchFamily="18" charset="0"/>
                      </a:rPr>
                      <m:t> </m:t>
                    </m:r>
                  </m:oMath>
                </a14:m>
                <a:r>
                  <a:rPr lang="en-US" dirty="0">
                    <a:solidFill>
                      <a:schemeClr val="bg1"/>
                    </a:solidFill>
                  </a:rPr>
                  <a:t>and </a:t>
                </a:r>
                <a14:m>
                  <m:oMath xmlns:m="http://schemas.openxmlformats.org/officeDocument/2006/math">
                    <m:r>
                      <a:rPr lang="en-US" i="1" smtClean="0">
                        <a:solidFill>
                          <a:schemeClr val="bg1"/>
                        </a:solidFill>
                        <a:latin typeface="Cambria Math" panose="02040503050406030204" pitchFamily="18" charset="0"/>
                      </a:rPr>
                      <m:t>𝑍</m:t>
                    </m:r>
                  </m:oMath>
                </a14:m>
                <a:r>
                  <a:rPr lang="en-US" dirty="0">
                    <a:solidFill>
                      <a:schemeClr val="bg1"/>
                    </a:solidFill>
                  </a:rPr>
                  <a:t>) followed by one row for each constraint.</a:t>
                </a:r>
              </a:p>
              <a:p>
                <a:endParaRPr lang="en-ZA" dirty="0">
                  <a:solidFill>
                    <a:schemeClr val="bg1"/>
                  </a:solidFill>
                </a:endParaRPr>
              </a:p>
              <a:p>
                <a:r>
                  <a:rPr lang="en-ZA" b="1" dirty="0">
                    <a:solidFill>
                      <a:schemeClr val="bg1"/>
                    </a:solidFill>
                  </a:rPr>
                  <a:t>2 - Column Setup:</a:t>
                </a:r>
                <a:r>
                  <a:rPr lang="en-ZA" dirty="0">
                    <a:solidFill>
                      <a:schemeClr val="bg1"/>
                    </a:solidFill>
                  </a:rPr>
                  <a:t> Create one column for every variable (</a:t>
                </a:r>
                <a14:m>
                  <m:oMath xmlns:m="http://schemas.openxmlformats.org/officeDocument/2006/math">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𝑥</m:t>
                        </m:r>
                      </m:e>
                      <m:sub>
                        <m:r>
                          <a:rPr lang="ar-AE" i="1">
                            <a:solidFill>
                              <a:schemeClr val="bg1"/>
                            </a:solidFill>
                            <a:latin typeface="Cambria Math" panose="02040503050406030204" pitchFamily="18" charset="0"/>
                          </a:rPr>
                          <m:t>𝑖</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𝑠</m:t>
                        </m:r>
                      </m:e>
                      <m:sub>
                        <m:r>
                          <a:rPr lang="ar-AE" i="1">
                            <a:solidFill>
                              <a:schemeClr val="bg1"/>
                            </a:solidFill>
                            <a:latin typeface="Cambria Math" panose="02040503050406030204" pitchFamily="18" charset="0"/>
                          </a:rPr>
                          <m:t>𝑖</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𝑒</m:t>
                        </m:r>
                      </m:e>
                      <m:sub>
                        <m:r>
                          <a:rPr lang="ar-AE" i="1">
                            <a:solidFill>
                              <a:schemeClr val="bg1"/>
                            </a:solidFill>
                            <a:latin typeface="Cambria Math" panose="02040503050406030204" pitchFamily="18" charset="0"/>
                          </a:rPr>
                          <m:t>𝑖</m:t>
                        </m:r>
                      </m:sub>
                    </m:sSub>
                    <m:r>
                      <a:rPr lang="ar-AE">
                        <a:solidFill>
                          <a:schemeClr val="bg1"/>
                        </a:solidFill>
                        <a:latin typeface="Cambria Math" panose="02040503050406030204" pitchFamily="18" charset="0"/>
                      </a:rPr>
                      <m:t>,</m:t>
                    </m:r>
                    <m:sSub>
                      <m:sSubPr>
                        <m:ctrlPr>
                          <a:rPr lang="ar-AE" i="1">
                            <a:solidFill>
                              <a:schemeClr val="bg1"/>
                            </a:solidFill>
                            <a:latin typeface="Cambria Math" panose="02040503050406030204" pitchFamily="18" charset="0"/>
                          </a:rPr>
                        </m:ctrlPr>
                      </m:sSubPr>
                      <m:e>
                        <m:r>
                          <a:rPr lang="ar-AE" i="1">
                            <a:solidFill>
                              <a:schemeClr val="bg1"/>
                            </a:solidFill>
                            <a:latin typeface="Cambria Math" panose="02040503050406030204" pitchFamily="18" charset="0"/>
                          </a:rPr>
                          <m:t>𝑎</m:t>
                        </m:r>
                      </m:e>
                      <m:sub>
                        <m:r>
                          <a:rPr lang="ar-AE" i="1">
                            <a:solidFill>
                              <a:schemeClr val="bg1"/>
                            </a:solidFill>
                            <a:latin typeface="Cambria Math" panose="02040503050406030204" pitchFamily="18" charset="0"/>
                          </a:rPr>
                          <m:t>𝑖</m:t>
                        </m:r>
                      </m:sub>
                    </m:sSub>
                  </m:oMath>
                </a14:m>
                <a:r>
                  <a:rPr lang="ar-AE" dirty="0">
                    <a:solidFill>
                      <a:schemeClr val="bg1"/>
                    </a:solidFill>
                  </a:rPr>
                  <a:t>), </a:t>
                </a:r>
                <a:r>
                  <a:rPr lang="en-ZA" dirty="0">
                    <a:solidFill>
                      <a:schemeClr val="bg1"/>
                    </a:solidFill>
                  </a:rPr>
                  <a:t>one for the </a:t>
                </a:r>
                <a:r>
                  <a:rPr lang="en-ZA" b="1" dirty="0">
                    <a:solidFill>
                      <a:schemeClr val="bg1"/>
                    </a:solidFill>
                  </a:rPr>
                  <a:t>RHS</a:t>
                </a:r>
                <a:r>
                  <a:rPr lang="en-ZA" dirty="0">
                    <a:solidFill>
                      <a:schemeClr val="bg1"/>
                    </a:solidFill>
                  </a:rPr>
                  <a:t>, and one for the </a:t>
                </a:r>
                <a:r>
                  <a:rPr lang="en-ZA" b="1" dirty="0">
                    <a:solidFill>
                      <a:schemeClr val="bg1"/>
                    </a:solidFill>
                  </a:rPr>
                  <a:t>Ratio (</a:t>
                </a:r>
                <a14:m>
                  <m:oMath xmlns:m="http://schemas.openxmlformats.org/officeDocument/2006/math">
                    <m:r>
                      <a:rPr lang="en-ZA" i="1">
                        <a:solidFill>
                          <a:schemeClr val="bg1"/>
                        </a:solidFill>
                        <a:latin typeface="Cambria Math" panose="02040503050406030204" pitchFamily="18" charset="0"/>
                      </a:rPr>
                      <m:t>𝜃</m:t>
                    </m:r>
                  </m:oMath>
                </a14:m>
                <a:r>
                  <a:rPr lang="en-ZA" b="1" dirty="0">
                    <a:solidFill>
                      <a:schemeClr val="bg1"/>
                    </a:solidFill>
                  </a:rPr>
                  <a:t>)</a:t>
                </a:r>
                <a:r>
                  <a:rPr lang="en-ZA" dirty="0">
                    <a:solidFill>
                      <a:schemeClr val="bg1"/>
                    </a:solidFill>
                  </a:rPr>
                  <a:t>.</a:t>
                </a:r>
              </a:p>
              <a:p>
                <a:endParaRPr lang="en-ZA" dirty="0">
                  <a:solidFill>
                    <a:schemeClr val="bg1"/>
                  </a:solidFill>
                </a:endParaRPr>
              </a:p>
              <a:p>
                <a:r>
                  <a:rPr lang="en-US" b="1" dirty="0">
                    <a:solidFill>
                      <a:schemeClr val="bg1"/>
                    </a:solidFill>
                  </a:rPr>
                  <a:t>3 - Data Entry:</a:t>
                </a:r>
                <a:r>
                  <a:rPr lang="en-US" dirty="0">
                    <a:solidFill>
                      <a:schemeClr val="bg1"/>
                    </a:solidFill>
                  </a:rPr>
                  <a:t> Populate the table with the coefficients from your equations and the RHS values.</a:t>
                </a:r>
              </a:p>
              <a:p>
                <a:endParaRPr lang="en-US" dirty="0">
                  <a:solidFill>
                    <a:schemeClr val="bg1"/>
                  </a:solidFill>
                </a:endParaRPr>
              </a:p>
              <a:p>
                <a:r>
                  <a:rPr lang="en-ZA" b="1" dirty="0">
                    <a:solidFill>
                      <a:schemeClr val="bg1"/>
                    </a:solidFill>
                  </a:rPr>
                  <a:t>4 - Initialization Note:</a:t>
                </a:r>
                <a:r>
                  <a:rPr lang="en-ZA" dirty="0">
                    <a:solidFill>
                      <a:schemeClr val="bg1"/>
                    </a:solidFill>
                  </a:rPr>
                  <a:t> Before the first optimality check, ensure the </a:t>
                </a:r>
                <a14:m>
                  <m:oMath xmlns:m="http://schemas.openxmlformats.org/officeDocument/2006/math">
                    <m:r>
                      <a:rPr lang="en-ZA" i="1">
                        <a:solidFill>
                          <a:schemeClr val="bg1"/>
                        </a:solidFill>
                        <a:latin typeface="Cambria Math" panose="02040503050406030204" pitchFamily="18" charset="0"/>
                      </a:rPr>
                      <m:t>𝑊</m:t>
                    </m:r>
                  </m:oMath>
                </a14:m>
                <a:r>
                  <a:rPr lang="en-ZA" dirty="0">
                    <a:solidFill>
                      <a:schemeClr val="bg1"/>
                    </a:solidFill>
                  </a:rPr>
                  <a:t>-row’s </a:t>
                </a:r>
                <a14:m>
                  <m:oMath xmlns:m="http://schemas.openxmlformats.org/officeDocument/2006/math">
                    <m:sSub>
                      <m:sSubPr>
                        <m:ctrlPr>
                          <a:rPr lang="en-ZA" b="0" i="1" smtClean="0">
                            <a:solidFill>
                              <a:schemeClr val="bg1"/>
                            </a:solidFill>
                            <a:latin typeface="Cambria Math" panose="02040503050406030204" pitchFamily="18" charset="0"/>
                          </a:rPr>
                        </m:ctrlPr>
                      </m:sSubPr>
                      <m:e>
                        <m:r>
                          <a:rPr lang="en-ZA" b="0" i="1" smtClean="0">
                            <a:solidFill>
                              <a:schemeClr val="bg1"/>
                            </a:solidFill>
                            <a:latin typeface="Cambria Math" panose="02040503050406030204" pitchFamily="18" charset="0"/>
                          </a:rPr>
                          <m:t>𝑎</m:t>
                        </m:r>
                      </m:e>
                      <m:sub>
                        <m:r>
                          <m:rPr>
                            <m:sty m:val="p"/>
                          </m:rPr>
                          <a:rPr lang="en-ZA" b="0" i="0" smtClean="0">
                            <a:solidFill>
                              <a:schemeClr val="bg1"/>
                            </a:solidFill>
                            <a:latin typeface="Cambria Math" panose="02040503050406030204" pitchFamily="18" charset="0"/>
                          </a:rPr>
                          <m:t>i</m:t>
                        </m:r>
                      </m:sub>
                    </m:sSub>
                  </m:oMath>
                </a14:m>
                <a:r>
                  <a:rPr lang="en-ZA" dirty="0">
                    <a:solidFill>
                      <a:schemeClr val="bg1"/>
                    </a:solidFill>
                  </a:rPr>
                  <a:t> has coefficients of 0 . If this is not the case you skipped a step in the last section.</a:t>
                </a:r>
              </a:p>
              <a:p>
                <a:endParaRPr lang="en-ZA" dirty="0">
                  <a:solidFill>
                    <a:schemeClr val="bg1"/>
                  </a:solidFill>
                </a:endParaRPr>
              </a:p>
              <a:p>
                <a:r>
                  <a:rPr lang="en-ZA" b="1" dirty="0">
                    <a:solidFill>
                      <a:schemeClr val="bg1"/>
                    </a:solidFill>
                  </a:rPr>
                  <a:t>6 - Check Feasibility : If solution is optimal, check on the RHS column on the </a:t>
                </a:r>
                <a14:m>
                  <m:oMath xmlns:m="http://schemas.openxmlformats.org/officeDocument/2006/math">
                    <m:r>
                      <a:rPr lang="en-ZA" i="1" smtClean="0">
                        <a:solidFill>
                          <a:schemeClr val="bg1"/>
                        </a:solidFill>
                        <a:latin typeface="Cambria Math" panose="02040503050406030204" pitchFamily="18" charset="0"/>
                      </a:rPr>
                      <m:t>𝑊</m:t>
                    </m:r>
                  </m:oMath>
                </a14:m>
                <a:r>
                  <a:rPr lang="en-ZA" dirty="0">
                    <a:solidFill>
                      <a:schemeClr val="bg1"/>
                    </a:solidFill>
                  </a:rPr>
                  <a:t>-row, if its 0. If so the solution is possible and we move onto phase 2. Otherwise its infeasible</a:t>
                </a:r>
                <a:endParaRPr lang="en-ZA" b="1" dirty="0">
                  <a:solidFill>
                    <a:schemeClr val="bg1"/>
                  </a:solidFill>
                </a:endParaRPr>
              </a:p>
            </p:txBody>
          </p:sp>
        </mc:Choice>
        <mc:Fallback xmlns="">
          <p:sp>
            <p:nvSpPr>
              <p:cNvPr id="5" name="TextBox 4">
                <a:extLst>
                  <a:ext uri="{FF2B5EF4-FFF2-40B4-BE49-F238E27FC236}">
                    <a16:creationId xmlns:a16="http://schemas.microsoft.com/office/drawing/2014/main" id="{397303EC-FAE0-C3EB-B3E5-B93C83CDDF27}"/>
                  </a:ext>
                </a:extLst>
              </p:cNvPr>
              <p:cNvSpPr txBox="1">
                <a:spLocks noRot="1" noChangeAspect="1" noMove="1" noResize="1" noEditPoints="1" noAdjustHandles="1" noChangeArrowheads="1" noChangeShapeType="1" noTextEdit="1"/>
              </p:cNvSpPr>
              <p:nvPr/>
            </p:nvSpPr>
            <p:spPr>
              <a:xfrm>
                <a:off x="5235676" y="792088"/>
                <a:ext cx="5648409" cy="5355312"/>
              </a:xfrm>
              <a:prstGeom prst="rect">
                <a:avLst/>
              </a:prstGeom>
              <a:blipFill>
                <a:blip r:embed="rId3"/>
                <a:stretch>
                  <a:fillRect l="-972" t="-569" r="-1620" b="-1025"/>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1F7921E-0190-94F6-658B-635E67B25A4D}"/>
                  </a:ext>
                </a:extLst>
              </p:cNvPr>
              <p:cNvSpPr txBox="1"/>
              <p:nvPr/>
            </p:nvSpPr>
            <p:spPr>
              <a:xfrm>
                <a:off x="1412593" y="4832609"/>
                <a:ext cx="3522518" cy="1200329"/>
              </a:xfrm>
              <a:prstGeom prst="rect">
                <a:avLst/>
              </a:prstGeom>
              <a:noFill/>
            </p:spPr>
            <p:txBody>
              <a:bodyPr wrap="square" rtlCol="0">
                <a:spAutoFit/>
              </a:bodyPr>
              <a:lstStyle/>
              <a:p>
                <a:r>
                  <a:rPr lang="en-ZA" b="1" dirty="0">
                    <a:solidFill>
                      <a:schemeClr val="bg1"/>
                    </a:solidFill>
                  </a:rPr>
                  <a:t>5 - Check Optimality : If the </a:t>
                </a:r>
                <a14:m>
                  <m:oMath xmlns:m="http://schemas.openxmlformats.org/officeDocument/2006/math">
                    <m:r>
                      <a:rPr lang="en-ZA" i="1" smtClean="0">
                        <a:solidFill>
                          <a:schemeClr val="bg1"/>
                        </a:solidFill>
                        <a:latin typeface="Cambria Math" panose="02040503050406030204" pitchFamily="18" charset="0"/>
                      </a:rPr>
                      <m:t>𝑊</m:t>
                    </m:r>
                  </m:oMath>
                </a14:m>
                <a:r>
                  <a:rPr lang="en-ZA" dirty="0">
                    <a:solidFill>
                      <a:schemeClr val="bg1"/>
                    </a:solidFill>
                  </a:rPr>
                  <a:t>-row</a:t>
                </a:r>
                <a:r>
                  <a:rPr lang="en-ZA" b="1" dirty="0">
                    <a:solidFill>
                      <a:schemeClr val="bg1"/>
                    </a:solidFill>
                  </a:rPr>
                  <a:t>’s variables have no negative coefficients we check feasibility , otherwise we pivot . </a:t>
                </a:r>
              </a:p>
            </p:txBody>
          </p:sp>
        </mc:Choice>
        <mc:Fallback xmlns="">
          <p:sp>
            <p:nvSpPr>
              <p:cNvPr id="6" name="TextBox 5">
                <a:extLst>
                  <a:ext uri="{FF2B5EF4-FFF2-40B4-BE49-F238E27FC236}">
                    <a16:creationId xmlns:a16="http://schemas.microsoft.com/office/drawing/2014/main" id="{E1F7921E-0190-94F6-658B-635E67B25A4D}"/>
                  </a:ext>
                </a:extLst>
              </p:cNvPr>
              <p:cNvSpPr txBox="1">
                <a:spLocks noRot="1" noChangeAspect="1" noMove="1" noResize="1" noEditPoints="1" noAdjustHandles="1" noChangeArrowheads="1" noChangeShapeType="1" noTextEdit="1"/>
              </p:cNvSpPr>
              <p:nvPr/>
            </p:nvSpPr>
            <p:spPr>
              <a:xfrm>
                <a:off x="1412593" y="4832609"/>
                <a:ext cx="3522518" cy="1200329"/>
              </a:xfrm>
              <a:prstGeom prst="rect">
                <a:avLst/>
              </a:prstGeom>
              <a:blipFill>
                <a:blip r:embed="rId4"/>
                <a:stretch>
                  <a:fillRect l="-1557" t="-2538" r="-2422" b="-7614"/>
                </a:stretch>
              </a:blipFill>
            </p:spPr>
            <p:txBody>
              <a:bodyPr/>
              <a:lstStyle/>
              <a:p>
                <a:r>
                  <a:rPr lang="en-ZA">
                    <a:noFill/>
                  </a:rPr>
                  <a:t> </a:t>
                </a:r>
              </a:p>
            </p:txBody>
          </p:sp>
        </mc:Fallback>
      </mc:AlternateContent>
    </p:spTree>
    <p:extLst>
      <p:ext uri="{BB962C8B-B14F-4D97-AF65-F5344CB8AC3E}">
        <p14:creationId xmlns:p14="http://schemas.microsoft.com/office/powerpoint/2010/main" val="2207184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E6368C-3BD2-50EA-3D1C-F97B83CBB668}"/>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FA4CB50D-5A5A-5358-2158-E2BEB29DB1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0B50C7E-4493-7199-C231-AE42418750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BC94B027-E580-E41A-B7F8-A376A9374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1C723973-F466-FEBB-8D53-CA509D42A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C9313AF3-E47B-561F-52FB-44F93FB51D42}"/>
              </a:ext>
            </a:extLst>
          </p:cNvPr>
          <p:cNvPicPr>
            <a:picLocks noChangeAspect="1"/>
          </p:cNvPicPr>
          <p:nvPr/>
        </p:nvPicPr>
        <p:blipFill>
          <a:blip r:embed="rId2">
            <a:alphaModFix amt="50000"/>
          </a:blip>
          <a:srcRect t="3770" b="2480"/>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D1D31B3-1E11-8EC0-07B9-7A4EDA91CB8E}"/>
              </a:ext>
            </a:extLst>
          </p:cNvPr>
          <p:cNvSpPr>
            <a:spLocks noGrp="1"/>
          </p:cNvSpPr>
          <p:nvPr>
            <p:ph type="title"/>
          </p:nvPr>
        </p:nvSpPr>
        <p:spPr>
          <a:xfrm>
            <a:off x="226031" y="1033033"/>
            <a:ext cx="4937686" cy="645088"/>
          </a:xfrm>
        </p:spPr>
        <p:txBody>
          <a:bodyPr vert="horz" lIns="91440" tIns="45720" rIns="91440" bIns="45720" rtlCol="0" anchor="t">
            <a:normAutofit fontScale="90000"/>
          </a:bodyPr>
          <a:lstStyle/>
          <a:p>
            <a:r>
              <a:rPr lang="en-US" sz="4400" dirty="0">
                <a:solidFill>
                  <a:srgbClr val="FFFFFF"/>
                </a:solidFill>
              </a:rPr>
              <a:t>Pivoting explanation</a:t>
            </a:r>
            <a:br>
              <a:rPr lang="en-US" sz="4400" dirty="0">
                <a:solidFill>
                  <a:srgbClr val="FFFFFF"/>
                </a:solidFill>
              </a:rPr>
            </a:br>
            <a:r>
              <a:rPr lang="en-US" sz="4400" dirty="0">
                <a:solidFill>
                  <a:srgbClr val="FFFFFF"/>
                </a:solidFill>
              </a:rPr>
              <a:t>    (Phase 1 pivot)</a:t>
            </a:r>
            <a:br>
              <a:rPr lang="en-US" sz="4400" dirty="0">
                <a:solidFill>
                  <a:srgbClr val="FFFFFF"/>
                </a:solidFill>
              </a:rPr>
            </a:br>
            <a:endParaRPr lang="en-US" sz="4400" kern="1200" dirty="0">
              <a:solidFill>
                <a:srgbClr val="FFFFFF"/>
              </a:solidFill>
              <a:latin typeface="+mj-lt"/>
              <a:ea typeface="+mj-ea"/>
              <a:cs typeface="+mj-cs"/>
            </a:endParaRPr>
          </a:p>
        </p:txBody>
      </p:sp>
      <p:cxnSp>
        <p:nvCxnSpPr>
          <p:cNvPr id="56" name="Straight Connector 55">
            <a:extLst>
              <a:ext uri="{FF2B5EF4-FFF2-40B4-BE49-F238E27FC236}">
                <a16:creationId xmlns:a16="http://schemas.microsoft.com/office/drawing/2014/main" id="{CD065475-ACA9-91D0-213E-305585951E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E0D2550-85DA-A04A-0401-EE17C368D588}"/>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cxnSp>
        <p:nvCxnSpPr>
          <p:cNvPr id="58" name="Straight Connector 57">
            <a:extLst>
              <a:ext uri="{FF2B5EF4-FFF2-40B4-BE49-F238E27FC236}">
                <a16:creationId xmlns:a16="http://schemas.microsoft.com/office/drawing/2014/main" id="{009B995C-2258-FDA2-C05F-ED7869CB86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291A9C6-048F-43EC-18FC-C3FABBFBE198}"/>
              </a:ext>
            </a:extLst>
          </p:cNvPr>
          <p:cNvSpPr txBox="1"/>
          <p:nvPr/>
        </p:nvSpPr>
        <p:spPr>
          <a:xfrm>
            <a:off x="756483" y="2279612"/>
            <a:ext cx="3726499" cy="1754326"/>
          </a:xfrm>
          <a:prstGeom prst="rect">
            <a:avLst/>
          </a:prstGeom>
          <a:noFill/>
        </p:spPr>
        <p:txBody>
          <a:bodyPr wrap="square" rtlCol="0">
            <a:spAutoFit/>
          </a:bodyPr>
          <a:lstStyle/>
          <a:p>
            <a:r>
              <a:rPr lang="en-ZA" dirty="0">
                <a:solidFill>
                  <a:schemeClr val="bg1"/>
                </a:solidFill>
              </a:rPr>
              <a:t>Pivoting is simply the movement to an extreme corner point of the feasible solution, in phase 1 this is done to find the feasible area since we don’t start in it, like the primal simplex algorithm</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30D3DEE-DCA8-9447-6793-110EF04C5DB5}"/>
                  </a:ext>
                </a:extLst>
              </p:cNvPr>
              <p:cNvSpPr txBox="1"/>
              <p:nvPr/>
            </p:nvSpPr>
            <p:spPr>
              <a:xfrm>
                <a:off x="5163717" y="952500"/>
                <a:ext cx="6915267" cy="7632859"/>
              </a:xfrm>
              <a:prstGeom prst="rect">
                <a:avLst/>
              </a:prstGeom>
              <a:noFill/>
            </p:spPr>
            <p:txBody>
              <a:bodyPr wrap="square" rtlCol="0">
                <a:spAutoFit/>
              </a:bodyPr>
              <a:lstStyle/>
              <a:p>
                <a:r>
                  <a:rPr lang="en-US" b="1" dirty="0">
                    <a:solidFill>
                      <a:schemeClr val="bg1"/>
                    </a:solidFill>
                  </a:rPr>
                  <a:t>1 - Pivot Column:</a:t>
                </a:r>
                <a:r>
                  <a:rPr lang="en-US" dirty="0">
                    <a:solidFill>
                      <a:schemeClr val="bg1"/>
                    </a:solidFill>
                  </a:rPr>
                  <a:t> Identify the largest negative coefficient in the </a:t>
                </a:r>
                <a14:m>
                  <m:oMath xmlns:m="http://schemas.openxmlformats.org/officeDocument/2006/math">
                    <m:r>
                      <a:rPr lang="en-US" i="1">
                        <a:solidFill>
                          <a:schemeClr val="bg1"/>
                        </a:solidFill>
                        <a:latin typeface="Cambria Math" panose="02040503050406030204" pitchFamily="18" charset="0"/>
                      </a:rPr>
                      <m:t>𝑊</m:t>
                    </m:r>
                  </m:oMath>
                </a14:m>
                <a:r>
                  <a:rPr lang="en-US" b="1" dirty="0">
                    <a:solidFill>
                      <a:schemeClr val="bg1"/>
                    </a:solidFill>
                  </a:rPr>
                  <a:t>-row</a:t>
                </a:r>
                <a:r>
                  <a:rPr lang="en-US" dirty="0">
                    <a:solidFill>
                      <a:schemeClr val="bg1"/>
                    </a:solidFill>
                  </a:rPr>
                  <a:t>.</a:t>
                </a:r>
              </a:p>
              <a:p>
                <a:endParaRPr lang="en-ZA" sz="1600" dirty="0">
                  <a:solidFill>
                    <a:schemeClr val="bg1"/>
                  </a:solidFill>
                </a:endParaRPr>
              </a:p>
              <a:p>
                <a:r>
                  <a:rPr lang="en-US" b="1" dirty="0">
                    <a:solidFill>
                      <a:schemeClr val="bg1"/>
                    </a:solidFill>
                  </a:rPr>
                  <a:t>2 - Ratio Test:</a:t>
                </a:r>
                <a:r>
                  <a:rPr lang="en-US" dirty="0">
                    <a:solidFill>
                      <a:schemeClr val="bg1"/>
                    </a:solidFill>
                  </a:rPr>
                  <a:t> For each constraint row, divide the </a:t>
                </a:r>
                <a:r>
                  <a:rPr lang="en-US" b="1" dirty="0">
                    <a:solidFill>
                      <a:schemeClr val="bg1"/>
                    </a:solidFill>
                  </a:rPr>
                  <a:t>RHS</a:t>
                </a:r>
                <a:r>
                  <a:rPr lang="en-US" dirty="0">
                    <a:solidFill>
                      <a:schemeClr val="bg1"/>
                    </a:solidFill>
                  </a:rPr>
                  <a:t> by the value in the </a:t>
                </a:r>
                <a:r>
                  <a:rPr lang="en-US" b="1" dirty="0">
                    <a:solidFill>
                      <a:schemeClr val="bg1"/>
                    </a:solidFill>
                  </a:rPr>
                  <a:t>Pivot Column</a:t>
                </a:r>
                <a:r>
                  <a:rPr lang="en-US" dirty="0">
                    <a:solidFill>
                      <a:schemeClr val="bg1"/>
                    </a:solidFill>
                  </a:rPr>
                  <a:t>.</a:t>
                </a:r>
              </a:p>
              <a:p>
                <a:endParaRPr lang="en-ZA" sz="1600" dirty="0">
                  <a:solidFill>
                    <a:schemeClr val="bg1"/>
                  </a:solidFill>
                </a:endParaRPr>
              </a:p>
              <a:p>
                <a:r>
                  <a:rPr lang="en-US" b="1" dirty="0">
                    <a:solidFill>
                      <a:schemeClr val="bg1"/>
                    </a:solidFill>
                  </a:rPr>
                  <a:t>3 - Pivot Row:</a:t>
                </a:r>
                <a:r>
                  <a:rPr lang="en-US" dirty="0">
                    <a:solidFill>
                      <a:schemeClr val="bg1"/>
                    </a:solidFill>
                  </a:rPr>
                  <a:t> Select the row with the </a:t>
                </a:r>
                <a:r>
                  <a:rPr lang="en-US" b="1" dirty="0">
                    <a:solidFill>
                      <a:schemeClr val="bg1"/>
                    </a:solidFill>
                  </a:rPr>
                  <a:t>lowest positive</a:t>
                </a:r>
                <a:r>
                  <a:rPr lang="en-US" dirty="0">
                    <a:solidFill>
                      <a:schemeClr val="bg1"/>
                    </a:solidFill>
                  </a:rPr>
                  <a:t> ratio. The intersection point is your </a:t>
                </a:r>
                <a:r>
                  <a:rPr lang="en-US" b="1" dirty="0">
                    <a:solidFill>
                      <a:schemeClr val="bg1"/>
                    </a:solidFill>
                  </a:rPr>
                  <a:t>Pivot Element</a:t>
                </a:r>
                <a:r>
                  <a:rPr lang="en-US" dirty="0">
                    <a:solidFill>
                      <a:schemeClr val="bg1"/>
                    </a:solidFill>
                  </a:rPr>
                  <a:t>.</a:t>
                </a:r>
              </a:p>
              <a:p>
                <a:endParaRPr lang="en-ZA" sz="1600" dirty="0">
                  <a:solidFill>
                    <a:schemeClr val="bg1"/>
                  </a:solidFill>
                </a:endParaRPr>
              </a:p>
              <a:p>
                <a:r>
                  <a:rPr lang="en-US" b="1" dirty="0">
                    <a:solidFill>
                      <a:schemeClr val="bg1"/>
                    </a:solidFill>
                  </a:rPr>
                  <a:t>4 - Update Pivot Row:</a:t>
                </a:r>
                <a:r>
                  <a:rPr lang="en-US" dirty="0">
                    <a:solidFill>
                      <a:schemeClr val="bg1"/>
                    </a:solidFill>
                  </a:rPr>
                  <a:t> In the new table, divide every cell in the old pivot row by the </a:t>
                </a:r>
                <a:r>
                  <a:rPr lang="en-US" b="1" dirty="0">
                    <a:solidFill>
                      <a:schemeClr val="bg1"/>
                    </a:solidFill>
                  </a:rPr>
                  <a:t>Pivot Element</a:t>
                </a:r>
                <a:r>
                  <a:rPr lang="en-US" dirty="0">
                    <a:solidFill>
                      <a:schemeClr val="bg1"/>
                    </a:solidFill>
                  </a:rPr>
                  <a:t>.</a:t>
                </a:r>
              </a:p>
              <a:p>
                <a:endParaRPr lang="en-ZA" sz="1600" dirty="0">
                  <a:solidFill>
                    <a:schemeClr val="bg1"/>
                  </a:solidFill>
                </a:endParaRPr>
              </a:p>
              <a:p>
                <a:r>
                  <a:rPr lang="en-US" b="1" dirty="0">
                    <a:solidFill>
                      <a:schemeClr val="bg1"/>
                    </a:solidFill>
                  </a:rPr>
                  <a:t> 5 -- Update All Other Cells:</a:t>
                </a:r>
                <a:r>
                  <a:rPr lang="en-US" dirty="0">
                    <a:solidFill>
                      <a:schemeClr val="bg1"/>
                    </a:solidFill>
                  </a:rPr>
                  <a:t> Use the following formula:</a:t>
                </a:r>
              </a:p>
              <a:p>
                <a:r>
                  <a:rPr lang="en-US" sz="1600" i="1" dirty="0">
                    <a:solidFill>
                      <a:schemeClr val="bg1"/>
                    </a:solidFill>
                  </a:rPr>
                  <a:t>New</a:t>
                </a:r>
                <a:r>
                  <a:rPr lang="en-US" sz="1600" dirty="0">
                    <a:solidFill>
                      <a:schemeClr val="bg1"/>
                    </a:solidFill>
                  </a:rPr>
                  <a:t> </a:t>
                </a:r>
                <a:r>
                  <a:rPr lang="en-US" sz="1600" i="1" dirty="0">
                    <a:solidFill>
                      <a:schemeClr val="bg1"/>
                    </a:solidFill>
                  </a:rPr>
                  <a:t>Cell </a:t>
                </a:r>
                <a:r>
                  <a:rPr lang="en-US" sz="1600" dirty="0">
                    <a:solidFill>
                      <a:schemeClr val="bg1"/>
                    </a:solidFill>
                  </a:rPr>
                  <a:t>=</a:t>
                </a:r>
                <a:r>
                  <a:rPr lang="en-US" sz="1600" i="1" dirty="0">
                    <a:solidFill>
                      <a:schemeClr val="bg1"/>
                    </a:solidFill>
                  </a:rPr>
                  <a:t>Old</a:t>
                </a:r>
                <a:r>
                  <a:rPr lang="en-US" sz="1600" dirty="0">
                    <a:solidFill>
                      <a:schemeClr val="bg1"/>
                    </a:solidFill>
                  </a:rPr>
                  <a:t> </a:t>
                </a:r>
                <a:r>
                  <a:rPr lang="en-US" sz="1600" i="1" dirty="0">
                    <a:solidFill>
                      <a:schemeClr val="bg1"/>
                    </a:solidFill>
                  </a:rPr>
                  <a:t>Cell </a:t>
                </a:r>
                <a:r>
                  <a:rPr lang="en-US" sz="1600" dirty="0">
                    <a:solidFill>
                      <a:schemeClr val="bg1"/>
                    </a:solidFill>
                  </a:rPr>
                  <a:t>− (</a:t>
                </a:r>
                <a:r>
                  <a:rPr lang="en-US" sz="1600" i="1" dirty="0">
                    <a:solidFill>
                      <a:schemeClr val="bg1"/>
                    </a:solidFill>
                  </a:rPr>
                  <a:t>Pivot</a:t>
                </a:r>
                <a:r>
                  <a:rPr lang="en-US" sz="1600" dirty="0">
                    <a:solidFill>
                      <a:schemeClr val="bg1"/>
                    </a:solidFill>
                  </a:rPr>
                  <a:t> </a:t>
                </a:r>
                <a:r>
                  <a:rPr lang="en-US" sz="1600" i="1" dirty="0">
                    <a:solidFill>
                      <a:schemeClr val="bg1"/>
                    </a:solidFill>
                  </a:rPr>
                  <a:t>Column</a:t>
                </a:r>
                <a:r>
                  <a:rPr lang="en-US" sz="1600" dirty="0">
                    <a:solidFill>
                      <a:schemeClr val="bg1"/>
                    </a:solidFill>
                  </a:rPr>
                  <a:t> </a:t>
                </a:r>
                <a:r>
                  <a:rPr lang="en-US" sz="1600" i="1" dirty="0">
                    <a:solidFill>
                      <a:schemeClr val="bg1"/>
                    </a:solidFill>
                  </a:rPr>
                  <a:t>Value * Updated</a:t>
                </a:r>
                <a:r>
                  <a:rPr lang="en-US" sz="1600" dirty="0">
                    <a:solidFill>
                      <a:schemeClr val="bg1"/>
                    </a:solidFill>
                  </a:rPr>
                  <a:t> </a:t>
                </a:r>
                <a:r>
                  <a:rPr lang="en-US" sz="1600" i="1" dirty="0">
                    <a:solidFill>
                      <a:schemeClr val="bg1"/>
                    </a:solidFill>
                  </a:rPr>
                  <a:t>Pivot</a:t>
                </a:r>
                <a:r>
                  <a:rPr lang="en-US" sz="1600" dirty="0">
                    <a:solidFill>
                      <a:schemeClr val="bg1"/>
                    </a:solidFill>
                  </a:rPr>
                  <a:t> </a:t>
                </a:r>
                <a:r>
                  <a:rPr lang="en-US" sz="1600" i="1" dirty="0">
                    <a:solidFill>
                      <a:schemeClr val="bg1"/>
                    </a:solidFill>
                  </a:rPr>
                  <a:t>Row</a:t>
                </a:r>
                <a:r>
                  <a:rPr lang="en-US" sz="1600" dirty="0">
                    <a:solidFill>
                      <a:schemeClr val="bg1"/>
                    </a:solidFill>
                  </a:rPr>
                  <a:t> </a:t>
                </a:r>
                <a:r>
                  <a:rPr lang="en-US" sz="1600" i="1" dirty="0">
                    <a:solidFill>
                      <a:schemeClr val="bg1"/>
                    </a:solidFill>
                  </a:rPr>
                  <a:t>Value</a:t>
                </a:r>
                <a:r>
                  <a:rPr lang="en-US" sz="1600" dirty="0">
                    <a:solidFill>
                      <a:schemeClr val="bg1"/>
                    </a:solidFill>
                  </a:rPr>
                  <a:t>)</a:t>
                </a:r>
              </a:p>
              <a:p>
                <a:endParaRPr lang="en-US" sz="1600" dirty="0">
                  <a:solidFill>
                    <a:schemeClr val="bg1"/>
                  </a:solidFill>
                </a:endParaRPr>
              </a:p>
              <a:p>
                <a:endParaRPr lang="en-ZA" sz="1600" dirty="0">
                  <a:solidFill>
                    <a:schemeClr val="bg1"/>
                  </a:solidFill>
                </a:endParaRPr>
              </a:p>
              <a:p>
                <a:r>
                  <a:rPr lang="en-ZA" b="1" dirty="0">
                    <a:solidFill>
                      <a:schemeClr val="bg1"/>
                    </a:solidFill>
                  </a:rPr>
                  <a:t>7 - Check Feasibility : If solution is optimal, check on the RHS column on the </a:t>
                </a:r>
                <a14:m>
                  <m:oMath xmlns:m="http://schemas.openxmlformats.org/officeDocument/2006/math">
                    <m:r>
                      <a:rPr lang="en-ZA" i="1" smtClean="0">
                        <a:solidFill>
                          <a:schemeClr val="bg1"/>
                        </a:solidFill>
                        <a:latin typeface="Cambria Math" panose="02040503050406030204" pitchFamily="18" charset="0"/>
                      </a:rPr>
                      <m:t>𝑊</m:t>
                    </m:r>
                  </m:oMath>
                </a14:m>
                <a:r>
                  <a:rPr lang="en-ZA" dirty="0">
                    <a:solidFill>
                      <a:schemeClr val="bg1"/>
                    </a:solidFill>
                  </a:rPr>
                  <a:t>-row, if its 0. If so the solution is possible and we move onto phase 2 and we can delete the</a:t>
                </a:r>
                <a:r>
                  <a:rPr lang="en-ZA" b="1" dirty="0">
                    <a:solidFill>
                      <a:schemeClr val="bg1"/>
                    </a:solidFill>
                  </a:rPr>
                  <a:t> </a:t>
                </a:r>
                <a14:m>
                  <m:oMath xmlns:m="http://schemas.openxmlformats.org/officeDocument/2006/math">
                    <m:r>
                      <a:rPr lang="en-ZA" i="1" smtClean="0">
                        <a:solidFill>
                          <a:schemeClr val="bg1"/>
                        </a:solidFill>
                        <a:latin typeface="Cambria Math" panose="02040503050406030204" pitchFamily="18" charset="0"/>
                      </a:rPr>
                      <m:t>𝑊</m:t>
                    </m:r>
                  </m:oMath>
                </a14:m>
                <a:r>
                  <a:rPr lang="en-ZA" dirty="0">
                    <a:solidFill>
                      <a:schemeClr val="bg1"/>
                    </a:solidFill>
                  </a:rPr>
                  <a:t>-row and all artificial variables . Otherwise its infeasible and we can stop here .</a:t>
                </a:r>
                <a:endParaRPr lang="en-ZA" b="1"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p:txBody>
          </p:sp>
        </mc:Choice>
        <mc:Fallback xmlns="">
          <p:sp>
            <p:nvSpPr>
              <p:cNvPr id="4" name="TextBox 3">
                <a:extLst>
                  <a:ext uri="{FF2B5EF4-FFF2-40B4-BE49-F238E27FC236}">
                    <a16:creationId xmlns:a16="http://schemas.microsoft.com/office/drawing/2014/main" id="{D30D3DEE-DCA8-9447-6793-110EF04C5DB5}"/>
                  </a:ext>
                </a:extLst>
              </p:cNvPr>
              <p:cNvSpPr txBox="1">
                <a:spLocks noRot="1" noChangeAspect="1" noMove="1" noResize="1" noEditPoints="1" noAdjustHandles="1" noChangeArrowheads="1" noChangeShapeType="1" noTextEdit="1"/>
              </p:cNvSpPr>
              <p:nvPr/>
            </p:nvSpPr>
            <p:spPr>
              <a:xfrm>
                <a:off x="5163717" y="952500"/>
                <a:ext cx="6915267" cy="7632859"/>
              </a:xfrm>
              <a:prstGeom prst="rect">
                <a:avLst/>
              </a:prstGeom>
              <a:blipFill>
                <a:blip r:embed="rId3"/>
                <a:stretch>
                  <a:fillRect l="-705" t="-319" r="-1587"/>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B3D13F-3114-1960-B3E9-8440DF2F1CA4}"/>
                  </a:ext>
                </a:extLst>
              </p:cNvPr>
              <p:cNvSpPr txBox="1"/>
              <p:nvPr/>
            </p:nvSpPr>
            <p:spPr>
              <a:xfrm>
                <a:off x="820599" y="5057972"/>
                <a:ext cx="4230101" cy="1200329"/>
              </a:xfrm>
              <a:prstGeom prst="rect">
                <a:avLst/>
              </a:prstGeom>
              <a:noFill/>
            </p:spPr>
            <p:txBody>
              <a:bodyPr wrap="square" rtlCol="0">
                <a:spAutoFit/>
              </a:bodyPr>
              <a:lstStyle/>
              <a:p>
                <a:r>
                  <a:rPr lang="en-ZA" b="1" dirty="0">
                    <a:solidFill>
                      <a:schemeClr val="bg1"/>
                    </a:solidFill>
                  </a:rPr>
                  <a:t>6 - Check Optimality : If the new </a:t>
                </a:r>
                <a14:m>
                  <m:oMath xmlns:m="http://schemas.openxmlformats.org/officeDocument/2006/math">
                    <m:r>
                      <a:rPr lang="en-ZA" i="1" smtClean="0">
                        <a:solidFill>
                          <a:schemeClr val="bg1"/>
                        </a:solidFill>
                        <a:latin typeface="Cambria Math" panose="02040503050406030204" pitchFamily="18" charset="0"/>
                      </a:rPr>
                      <m:t>𝑊</m:t>
                    </m:r>
                  </m:oMath>
                </a14:m>
                <a:r>
                  <a:rPr lang="en-ZA" dirty="0">
                    <a:solidFill>
                      <a:schemeClr val="bg1"/>
                    </a:solidFill>
                  </a:rPr>
                  <a:t>-row</a:t>
                </a:r>
                <a:r>
                  <a:rPr lang="en-ZA" b="1" dirty="0">
                    <a:solidFill>
                      <a:schemeClr val="bg1"/>
                    </a:solidFill>
                  </a:rPr>
                  <a:t>’s variables have no negative coefficients we check feasibility , otherwise we pivot again . </a:t>
                </a:r>
              </a:p>
            </p:txBody>
          </p:sp>
        </mc:Choice>
        <mc:Fallback xmlns="">
          <p:sp>
            <p:nvSpPr>
              <p:cNvPr id="10" name="TextBox 9">
                <a:extLst>
                  <a:ext uri="{FF2B5EF4-FFF2-40B4-BE49-F238E27FC236}">
                    <a16:creationId xmlns:a16="http://schemas.microsoft.com/office/drawing/2014/main" id="{D5B3D13F-3114-1960-B3E9-8440DF2F1CA4}"/>
                  </a:ext>
                </a:extLst>
              </p:cNvPr>
              <p:cNvSpPr txBox="1">
                <a:spLocks noRot="1" noChangeAspect="1" noMove="1" noResize="1" noEditPoints="1" noAdjustHandles="1" noChangeArrowheads="1" noChangeShapeType="1" noTextEdit="1"/>
              </p:cNvSpPr>
              <p:nvPr/>
            </p:nvSpPr>
            <p:spPr>
              <a:xfrm>
                <a:off x="820599" y="5057972"/>
                <a:ext cx="4230101" cy="1200329"/>
              </a:xfrm>
              <a:prstGeom prst="rect">
                <a:avLst/>
              </a:prstGeom>
              <a:blipFill>
                <a:blip r:embed="rId4"/>
                <a:stretch>
                  <a:fillRect l="-1297" t="-2538" b="-7614"/>
                </a:stretch>
              </a:blipFill>
            </p:spPr>
            <p:txBody>
              <a:bodyPr/>
              <a:lstStyle/>
              <a:p>
                <a:r>
                  <a:rPr lang="en-ZA">
                    <a:noFill/>
                  </a:rPr>
                  <a:t> </a:t>
                </a:r>
              </a:p>
            </p:txBody>
          </p:sp>
        </mc:Fallback>
      </mc:AlternateContent>
    </p:spTree>
    <p:extLst>
      <p:ext uri="{BB962C8B-B14F-4D97-AF65-F5344CB8AC3E}">
        <p14:creationId xmlns:p14="http://schemas.microsoft.com/office/powerpoint/2010/main" val="3912673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2E7EA-C1F6-3F75-8B67-C8760E662DEC}"/>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DA5569CD-3D1A-FAB0-924D-275C07C746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B492F37-E9BB-7C78-36F5-1981AB8C3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0D8C76AC-4D24-B71E-99C8-4FF120418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83F2D7AE-81FC-EF57-F8C3-EAD8E24FA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2D3E060B-303C-1894-26D0-310F8B6D45C1}"/>
              </a:ext>
            </a:extLst>
          </p:cNvPr>
          <p:cNvPicPr>
            <a:picLocks noChangeAspect="1"/>
          </p:cNvPicPr>
          <p:nvPr/>
        </p:nvPicPr>
        <p:blipFill>
          <a:blip r:embed="rId2">
            <a:alphaModFix amt="50000"/>
          </a:blip>
          <a:srcRect t="3770" b="2480"/>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A3B50B2-57CF-B331-AB85-62EB088092A0}"/>
              </a:ext>
            </a:extLst>
          </p:cNvPr>
          <p:cNvSpPr>
            <a:spLocks noGrp="1"/>
          </p:cNvSpPr>
          <p:nvPr>
            <p:ph type="title"/>
          </p:nvPr>
        </p:nvSpPr>
        <p:spPr>
          <a:xfrm>
            <a:off x="226031" y="1033033"/>
            <a:ext cx="4937686" cy="645088"/>
          </a:xfrm>
        </p:spPr>
        <p:txBody>
          <a:bodyPr vert="horz" lIns="91440" tIns="45720" rIns="91440" bIns="45720" rtlCol="0" anchor="t">
            <a:normAutofit fontScale="90000"/>
          </a:bodyPr>
          <a:lstStyle/>
          <a:p>
            <a:r>
              <a:rPr lang="en-US" sz="4400" dirty="0">
                <a:solidFill>
                  <a:srgbClr val="FFFFFF"/>
                </a:solidFill>
              </a:rPr>
              <a:t>Pivoting explanation</a:t>
            </a:r>
            <a:br>
              <a:rPr lang="en-US" sz="4400" dirty="0">
                <a:solidFill>
                  <a:srgbClr val="FFFFFF"/>
                </a:solidFill>
              </a:rPr>
            </a:br>
            <a:r>
              <a:rPr lang="en-US" sz="4400" dirty="0">
                <a:solidFill>
                  <a:srgbClr val="FFFFFF"/>
                </a:solidFill>
              </a:rPr>
              <a:t>    (Phase 2 pivot)</a:t>
            </a:r>
            <a:br>
              <a:rPr lang="en-US" sz="4400" dirty="0">
                <a:solidFill>
                  <a:srgbClr val="FFFFFF"/>
                </a:solidFill>
              </a:rPr>
            </a:br>
            <a:endParaRPr lang="en-US" sz="4400" kern="1200" dirty="0">
              <a:solidFill>
                <a:srgbClr val="FFFFFF"/>
              </a:solidFill>
              <a:latin typeface="+mj-lt"/>
              <a:ea typeface="+mj-ea"/>
              <a:cs typeface="+mj-cs"/>
            </a:endParaRPr>
          </a:p>
        </p:txBody>
      </p:sp>
      <p:cxnSp>
        <p:nvCxnSpPr>
          <p:cNvPr id="56" name="Straight Connector 55">
            <a:extLst>
              <a:ext uri="{FF2B5EF4-FFF2-40B4-BE49-F238E27FC236}">
                <a16:creationId xmlns:a16="http://schemas.microsoft.com/office/drawing/2014/main" id="{14A84EA7-233E-FC90-3BA7-924514495B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041F523-D424-51D1-7A54-66924137E1B6}"/>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cxnSp>
        <p:nvCxnSpPr>
          <p:cNvPr id="58" name="Straight Connector 57">
            <a:extLst>
              <a:ext uri="{FF2B5EF4-FFF2-40B4-BE49-F238E27FC236}">
                <a16:creationId xmlns:a16="http://schemas.microsoft.com/office/drawing/2014/main" id="{83A5DAFA-CF39-0EF1-94B1-35B8397EBE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B2A7434-D3EF-5101-2A7B-B7FA3A562A62}"/>
                  </a:ext>
                </a:extLst>
              </p:cNvPr>
              <p:cNvSpPr txBox="1"/>
              <p:nvPr/>
            </p:nvSpPr>
            <p:spPr>
              <a:xfrm>
                <a:off x="5163717" y="952500"/>
                <a:ext cx="6915267" cy="7355860"/>
              </a:xfrm>
              <a:prstGeom prst="rect">
                <a:avLst/>
              </a:prstGeom>
              <a:noFill/>
            </p:spPr>
            <p:txBody>
              <a:bodyPr wrap="square" rtlCol="0">
                <a:spAutoFit/>
              </a:bodyPr>
              <a:lstStyle/>
              <a:p>
                <a:r>
                  <a:rPr lang="en-US" b="1" dirty="0">
                    <a:solidFill>
                      <a:schemeClr val="bg1"/>
                    </a:solidFill>
                  </a:rPr>
                  <a:t>1 - Pivot Column:</a:t>
                </a:r>
                <a:r>
                  <a:rPr lang="en-US" dirty="0">
                    <a:solidFill>
                      <a:schemeClr val="bg1"/>
                    </a:solidFill>
                  </a:rPr>
                  <a:t> Identify the largest [negative if max-, positive if min- problem] coefficient in the </a:t>
                </a:r>
                <a14:m>
                  <m:oMath xmlns:m="http://schemas.openxmlformats.org/officeDocument/2006/math">
                    <m:r>
                      <a:rPr lang="en-ZA" b="0" i="1" smtClean="0">
                        <a:solidFill>
                          <a:schemeClr val="bg1"/>
                        </a:solidFill>
                        <a:latin typeface="Cambria Math" panose="02040503050406030204" pitchFamily="18" charset="0"/>
                      </a:rPr>
                      <m:t>𝑍</m:t>
                    </m:r>
                  </m:oMath>
                </a14:m>
                <a:r>
                  <a:rPr lang="en-US" b="1" dirty="0">
                    <a:solidFill>
                      <a:schemeClr val="bg1"/>
                    </a:solidFill>
                  </a:rPr>
                  <a:t>-row</a:t>
                </a:r>
                <a:r>
                  <a:rPr lang="en-US" dirty="0">
                    <a:solidFill>
                      <a:schemeClr val="bg1"/>
                    </a:solidFill>
                  </a:rPr>
                  <a:t>.</a:t>
                </a:r>
              </a:p>
              <a:p>
                <a:endParaRPr lang="en-ZA" sz="1600" dirty="0">
                  <a:solidFill>
                    <a:schemeClr val="bg1"/>
                  </a:solidFill>
                </a:endParaRPr>
              </a:p>
              <a:p>
                <a:r>
                  <a:rPr lang="en-US" b="1" dirty="0">
                    <a:solidFill>
                      <a:schemeClr val="bg1"/>
                    </a:solidFill>
                  </a:rPr>
                  <a:t>2 - Ratio Test:</a:t>
                </a:r>
                <a:r>
                  <a:rPr lang="en-US" dirty="0">
                    <a:solidFill>
                      <a:schemeClr val="bg1"/>
                    </a:solidFill>
                  </a:rPr>
                  <a:t> For each constraint row, divide the </a:t>
                </a:r>
                <a:r>
                  <a:rPr lang="en-US" b="1" dirty="0">
                    <a:solidFill>
                      <a:schemeClr val="bg1"/>
                    </a:solidFill>
                  </a:rPr>
                  <a:t>RHS</a:t>
                </a:r>
                <a:r>
                  <a:rPr lang="en-US" dirty="0">
                    <a:solidFill>
                      <a:schemeClr val="bg1"/>
                    </a:solidFill>
                  </a:rPr>
                  <a:t> by the value in the </a:t>
                </a:r>
                <a:r>
                  <a:rPr lang="en-US" b="1" dirty="0">
                    <a:solidFill>
                      <a:schemeClr val="bg1"/>
                    </a:solidFill>
                  </a:rPr>
                  <a:t>Pivot Column</a:t>
                </a:r>
                <a:r>
                  <a:rPr lang="en-US" dirty="0">
                    <a:solidFill>
                      <a:schemeClr val="bg1"/>
                    </a:solidFill>
                  </a:rPr>
                  <a:t>.</a:t>
                </a:r>
              </a:p>
              <a:p>
                <a:endParaRPr lang="en-ZA" sz="1600" dirty="0">
                  <a:solidFill>
                    <a:schemeClr val="bg1"/>
                  </a:solidFill>
                </a:endParaRPr>
              </a:p>
              <a:p>
                <a:r>
                  <a:rPr lang="en-US" b="1" dirty="0">
                    <a:solidFill>
                      <a:schemeClr val="bg1"/>
                    </a:solidFill>
                  </a:rPr>
                  <a:t>3 - Pivot Row:</a:t>
                </a:r>
                <a:r>
                  <a:rPr lang="en-US" dirty="0">
                    <a:solidFill>
                      <a:schemeClr val="bg1"/>
                    </a:solidFill>
                  </a:rPr>
                  <a:t> Select the row with the </a:t>
                </a:r>
                <a:r>
                  <a:rPr lang="en-US" b="1" dirty="0">
                    <a:solidFill>
                      <a:schemeClr val="bg1"/>
                    </a:solidFill>
                  </a:rPr>
                  <a:t>lowest positive</a:t>
                </a:r>
                <a:r>
                  <a:rPr lang="en-US" dirty="0">
                    <a:solidFill>
                      <a:schemeClr val="bg1"/>
                    </a:solidFill>
                  </a:rPr>
                  <a:t> ratio. The intersection point is your </a:t>
                </a:r>
                <a:r>
                  <a:rPr lang="en-US" b="1" dirty="0">
                    <a:solidFill>
                      <a:schemeClr val="bg1"/>
                    </a:solidFill>
                  </a:rPr>
                  <a:t>Pivot Element</a:t>
                </a:r>
                <a:r>
                  <a:rPr lang="en-US" dirty="0">
                    <a:solidFill>
                      <a:schemeClr val="bg1"/>
                    </a:solidFill>
                  </a:rPr>
                  <a:t>.</a:t>
                </a:r>
              </a:p>
              <a:p>
                <a:endParaRPr lang="en-ZA" sz="1600" dirty="0">
                  <a:solidFill>
                    <a:schemeClr val="bg1"/>
                  </a:solidFill>
                </a:endParaRPr>
              </a:p>
              <a:p>
                <a:r>
                  <a:rPr lang="en-US" b="1" dirty="0">
                    <a:solidFill>
                      <a:schemeClr val="bg1"/>
                    </a:solidFill>
                  </a:rPr>
                  <a:t>4 - Update Pivot Row:</a:t>
                </a:r>
                <a:r>
                  <a:rPr lang="en-US" dirty="0">
                    <a:solidFill>
                      <a:schemeClr val="bg1"/>
                    </a:solidFill>
                  </a:rPr>
                  <a:t> In the new table, divide every cell in the old pivot row by the </a:t>
                </a:r>
                <a:r>
                  <a:rPr lang="en-US" b="1" dirty="0">
                    <a:solidFill>
                      <a:schemeClr val="bg1"/>
                    </a:solidFill>
                  </a:rPr>
                  <a:t>Pivot Element</a:t>
                </a:r>
                <a:r>
                  <a:rPr lang="en-US" dirty="0">
                    <a:solidFill>
                      <a:schemeClr val="bg1"/>
                    </a:solidFill>
                  </a:rPr>
                  <a:t>.</a:t>
                </a:r>
              </a:p>
              <a:p>
                <a:endParaRPr lang="en-ZA" sz="1600" dirty="0">
                  <a:solidFill>
                    <a:schemeClr val="bg1"/>
                  </a:solidFill>
                </a:endParaRPr>
              </a:p>
              <a:p>
                <a:r>
                  <a:rPr lang="en-US" b="1" dirty="0">
                    <a:solidFill>
                      <a:schemeClr val="bg1"/>
                    </a:solidFill>
                  </a:rPr>
                  <a:t> 5 -- Update All Other Cells:</a:t>
                </a:r>
                <a:r>
                  <a:rPr lang="en-US" dirty="0">
                    <a:solidFill>
                      <a:schemeClr val="bg1"/>
                    </a:solidFill>
                  </a:rPr>
                  <a:t> Use the following formula:</a:t>
                </a:r>
              </a:p>
              <a:p>
                <a:r>
                  <a:rPr lang="en-US" sz="1600" i="1" dirty="0">
                    <a:solidFill>
                      <a:schemeClr val="bg1"/>
                    </a:solidFill>
                  </a:rPr>
                  <a:t>New</a:t>
                </a:r>
                <a:r>
                  <a:rPr lang="en-US" sz="1600" dirty="0">
                    <a:solidFill>
                      <a:schemeClr val="bg1"/>
                    </a:solidFill>
                  </a:rPr>
                  <a:t> </a:t>
                </a:r>
                <a:r>
                  <a:rPr lang="en-US" sz="1600" i="1" dirty="0">
                    <a:solidFill>
                      <a:schemeClr val="bg1"/>
                    </a:solidFill>
                  </a:rPr>
                  <a:t>Cell </a:t>
                </a:r>
                <a:r>
                  <a:rPr lang="en-US" sz="1600" dirty="0">
                    <a:solidFill>
                      <a:schemeClr val="bg1"/>
                    </a:solidFill>
                  </a:rPr>
                  <a:t>=</a:t>
                </a:r>
                <a:r>
                  <a:rPr lang="en-US" sz="1600" i="1" dirty="0">
                    <a:solidFill>
                      <a:schemeClr val="bg1"/>
                    </a:solidFill>
                  </a:rPr>
                  <a:t>Old</a:t>
                </a:r>
                <a:r>
                  <a:rPr lang="en-US" sz="1600" dirty="0">
                    <a:solidFill>
                      <a:schemeClr val="bg1"/>
                    </a:solidFill>
                  </a:rPr>
                  <a:t> </a:t>
                </a:r>
                <a:r>
                  <a:rPr lang="en-US" sz="1600" i="1" dirty="0">
                    <a:solidFill>
                      <a:schemeClr val="bg1"/>
                    </a:solidFill>
                  </a:rPr>
                  <a:t>Cell </a:t>
                </a:r>
                <a:r>
                  <a:rPr lang="en-US" sz="1600" dirty="0">
                    <a:solidFill>
                      <a:schemeClr val="bg1"/>
                    </a:solidFill>
                  </a:rPr>
                  <a:t>− (</a:t>
                </a:r>
                <a:r>
                  <a:rPr lang="en-US" sz="1600" i="1" dirty="0">
                    <a:solidFill>
                      <a:schemeClr val="bg1"/>
                    </a:solidFill>
                  </a:rPr>
                  <a:t>Pivot</a:t>
                </a:r>
                <a:r>
                  <a:rPr lang="en-US" sz="1600" dirty="0">
                    <a:solidFill>
                      <a:schemeClr val="bg1"/>
                    </a:solidFill>
                  </a:rPr>
                  <a:t> </a:t>
                </a:r>
                <a:r>
                  <a:rPr lang="en-US" sz="1600" i="1" dirty="0">
                    <a:solidFill>
                      <a:schemeClr val="bg1"/>
                    </a:solidFill>
                  </a:rPr>
                  <a:t>Column</a:t>
                </a:r>
                <a:r>
                  <a:rPr lang="en-US" sz="1600" dirty="0">
                    <a:solidFill>
                      <a:schemeClr val="bg1"/>
                    </a:solidFill>
                  </a:rPr>
                  <a:t> </a:t>
                </a:r>
                <a:r>
                  <a:rPr lang="en-US" sz="1600" i="1" dirty="0">
                    <a:solidFill>
                      <a:schemeClr val="bg1"/>
                    </a:solidFill>
                  </a:rPr>
                  <a:t>Value * Updated</a:t>
                </a:r>
                <a:r>
                  <a:rPr lang="en-US" sz="1600" dirty="0">
                    <a:solidFill>
                      <a:schemeClr val="bg1"/>
                    </a:solidFill>
                  </a:rPr>
                  <a:t> </a:t>
                </a:r>
                <a:r>
                  <a:rPr lang="en-US" sz="1600" i="1" dirty="0">
                    <a:solidFill>
                      <a:schemeClr val="bg1"/>
                    </a:solidFill>
                  </a:rPr>
                  <a:t>Pivot</a:t>
                </a:r>
                <a:r>
                  <a:rPr lang="en-US" sz="1600" dirty="0">
                    <a:solidFill>
                      <a:schemeClr val="bg1"/>
                    </a:solidFill>
                  </a:rPr>
                  <a:t> </a:t>
                </a:r>
                <a:r>
                  <a:rPr lang="en-US" sz="1600" i="1" dirty="0">
                    <a:solidFill>
                      <a:schemeClr val="bg1"/>
                    </a:solidFill>
                  </a:rPr>
                  <a:t>Row</a:t>
                </a:r>
                <a:r>
                  <a:rPr lang="en-US" sz="1600" dirty="0">
                    <a:solidFill>
                      <a:schemeClr val="bg1"/>
                    </a:solidFill>
                  </a:rPr>
                  <a:t> </a:t>
                </a:r>
                <a:r>
                  <a:rPr lang="en-US" sz="1600" i="1" dirty="0">
                    <a:solidFill>
                      <a:schemeClr val="bg1"/>
                    </a:solidFill>
                  </a:rPr>
                  <a:t>Value</a:t>
                </a:r>
                <a:r>
                  <a:rPr lang="en-US" sz="1600" dirty="0">
                    <a:solidFill>
                      <a:schemeClr val="bg1"/>
                    </a:solidFill>
                  </a:rPr>
                  <a:t>)</a:t>
                </a:r>
              </a:p>
              <a:p>
                <a:endParaRPr lang="en-US" sz="1600" dirty="0">
                  <a:solidFill>
                    <a:schemeClr val="bg1"/>
                  </a:solidFill>
                </a:endParaRPr>
              </a:p>
              <a:p>
                <a:r>
                  <a:rPr lang="en-ZA" b="1" dirty="0">
                    <a:solidFill>
                      <a:schemeClr val="bg1"/>
                    </a:solidFill>
                  </a:rPr>
                  <a:t>6 - Check Optimality : </a:t>
                </a:r>
                <a:r>
                  <a:rPr lang="en-ZA" dirty="0">
                    <a:solidFill>
                      <a:schemeClr val="bg1"/>
                    </a:solidFill>
                  </a:rPr>
                  <a:t>If the new </a:t>
                </a:r>
                <a14:m>
                  <m:oMath xmlns:m="http://schemas.openxmlformats.org/officeDocument/2006/math">
                    <m:r>
                      <a:rPr lang="en-ZA" b="0" i="1" smtClean="0">
                        <a:solidFill>
                          <a:schemeClr val="bg1"/>
                        </a:solidFill>
                        <a:latin typeface="Cambria Math" panose="02040503050406030204" pitchFamily="18" charset="0"/>
                      </a:rPr>
                      <m:t>𝑍</m:t>
                    </m:r>
                  </m:oMath>
                </a14:m>
                <a:r>
                  <a:rPr lang="en-US" b="1" dirty="0">
                    <a:solidFill>
                      <a:schemeClr val="bg1"/>
                    </a:solidFill>
                  </a:rPr>
                  <a:t>-row </a:t>
                </a:r>
                <a:r>
                  <a:rPr lang="en-ZA" dirty="0">
                    <a:solidFill>
                      <a:schemeClr val="bg1"/>
                    </a:solidFill>
                  </a:rPr>
                  <a:t>s variables have no </a:t>
                </a:r>
                <a:r>
                  <a:rPr lang="en-US" dirty="0">
                    <a:solidFill>
                      <a:schemeClr val="bg1"/>
                    </a:solidFill>
                  </a:rPr>
                  <a:t>[negative if max-, positive if min- problem]</a:t>
                </a:r>
                <a:r>
                  <a:rPr lang="en-ZA" dirty="0">
                    <a:solidFill>
                      <a:schemeClr val="bg1"/>
                    </a:solidFill>
                  </a:rPr>
                  <a:t> coefficients we have found the optimal solution , otherwise we pivot again . </a:t>
                </a:r>
              </a:p>
              <a:p>
                <a:endParaRPr lang="en-ZA" sz="1600"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p:txBody>
          </p:sp>
        </mc:Choice>
        <mc:Fallback xmlns="">
          <p:sp>
            <p:nvSpPr>
              <p:cNvPr id="4" name="TextBox 3">
                <a:extLst>
                  <a:ext uri="{FF2B5EF4-FFF2-40B4-BE49-F238E27FC236}">
                    <a16:creationId xmlns:a16="http://schemas.microsoft.com/office/drawing/2014/main" id="{6B2A7434-D3EF-5101-2A7B-B7FA3A562A62}"/>
                  </a:ext>
                </a:extLst>
              </p:cNvPr>
              <p:cNvSpPr txBox="1">
                <a:spLocks noRot="1" noChangeAspect="1" noMove="1" noResize="1" noEditPoints="1" noAdjustHandles="1" noChangeArrowheads="1" noChangeShapeType="1" noTextEdit="1"/>
              </p:cNvSpPr>
              <p:nvPr/>
            </p:nvSpPr>
            <p:spPr>
              <a:xfrm>
                <a:off x="5163717" y="952500"/>
                <a:ext cx="6915267" cy="7355860"/>
              </a:xfrm>
              <a:prstGeom prst="rect">
                <a:avLst/>
              </a:prstGeom>
              <a:blipFill>
                <a:blip r:embed="rId3"/>
                <a:stretch>
                  <a:fillRect l="-705" t="-331" r="-1146"/>
                </a:stretch>
              </a:blipFill>
            </p:spPr>
            <p:txBody>
              <a:bodyPr/>
              <a:lstStyle/>
              <a:p>
                <a:r>
                  <a:rPr lang="en-ZA">
                    <a:noFill/>
                  </a:rPr>
                  <a:t> </a:t>
                </a:r>
              </a:p>
            </p:txBody>
          </p:sp>
        </mc:Fallback>
      </mc:AlternateContent>
    </p:spTree>
    <p:extLst>
      <p:ext uri="{BB962C8B-B14F-4D97-AF65-F5344CB8AC3E}">
        <p14:creationId xmlns:p14="http://schemas.microsoft.com/office/powerpoint/2010/main" val="3725800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97151B-58EA-0AAF-2217-2B611785B0EE}"/>
            </a:ext>
          </a:extLst>
        </p:cNvPr>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74CD7E9F-D2F5-72F5-D2D2-B4D38D9656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2E49B4D5-E722-FFAC-2DCE-E82A3DC32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2" name="Rectangle 51">
            <a:extLst>
              <a:ext uri="{FF2B5EF4-FFF2-40B4-BE49-F238E27FC236}">
                <a16:creationId xmlns:a16="http://schemas.microsoft.com/office/drawing/2014/main" id="{167E434C-0E8D-80C9-9B1E-BED069355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7C75E67E-BDDC-8266-F82F-A113C0C8D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Push pins laying down with one standing up">
            <a:extLst>
              <a:ext uri="{FF2B5EF4-FFF2-40B4-BE49-F238E27FC236}">
                <a16:creationId xmlns:a16="http://schemas.microsoft.com/office/drawing/2014/main" id="{691CE347-1FC4-B143-E598-0535F7093354}"/>
              </a:ext>
            </a:extLst>
          </p:cNvPr>
          <p:cNvPicPr>
            <a:picLocks noChangeAspect="1"/>
          </p:cNvPicPr>
          <p:nvPr/>
        </p:nvPicPr>
        <p:blipFill>
          <a:blip r:embed="rId2">
            <a:alphaModFix amt="50000"/>
          </a:blip>
          <a:srcRect t="3770" b="2480"/>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08AE5D-F65A-FBF3-C60C-FA0A1FBD6A56}"/>
              </a:ext>
            </a:extLst>
          </p:cNvPr>
          <p:cNvSpPr>
            <a:spLocks noGrp="1"/>
          </p:cNvSpPr>
          <p:nvPr>
            <p:ph type="title"/>
          </p:nvPr>
        </p:nvSpPr>
        <p:spPr>
          <a:xfrm>
            <a:off x="226031" y="1033033"/>
            <a:ext cx="5249978" cy="645088"/>
          </a:xfrm>
        </p:spPr>
        <p:txBody>
          <a:bodyPr vert="horz" lIns="91440" tIns="45720" rIns="91440" bIns="45720" rtlCol="0" anchor="t">
            <a:normAutofit fontScale="90000"/>
          </a:bodyPr>
          <a:lstStyle/>
          <a:p>
            <a:r>
              <a:rPr lang="en-US" sz="8000" dirty="0">
                <a:solidFill>
                  <a:srgbClr val="FFFFFF"/>
                </a:solidFill>
              </a:rPr>
              <a:t>Interpreting results</a:t>
            </a:r>
            <a:br>
              <a:rPr lang="en-US" sz="4400" dirty="0">
                <a:solidFill>
                  <a:srgbClr val="FFFFFF"/>
                </a:solidFill>
              </a:rPr>
            </a:br>
            <a:r>
              <a:rPr lang="en-US" sz="4400" dirty="0">
                <a:solidFill>
                  <a:srgbClr val="FFFFFF"/>
                </a:solidFill>
              </a:rPr>
              <a:t>   (Phase 2 Results)</a:t>
            </a:r>
            <a:br>
              <a:rPr lang="en-US" sz="4400" dirty="0">
                <a:solidFill>
                  <a:srgbClr val="FFFFFF"/>
                </a:solidFill>
              </a:rPr>
            </a:br>
            <a:endParaRPr lang="en-US" sz="4400" kern="1200" dirty="0">
              <a:solidFill>
                <a:srgbClr val="FFFFFF"/>
              </a:solidFill>
              <a:latin typeface="+mj-lt"/>
              <a:ea typeface="+mj-ea"/>
              <a:cs typeface="+mj-cs"/>
            </a:endParaRPr>
          </a:p>
        </p:txBody>
      </p:sp>
      <p:cxnSp>
        <p:nvCxnSpPr>
          <p:cNvPr id="56" name="Straight Connector 55">
            <a:extLst>
              <a:ext uri="{FF2B5EF4-FFF2-40B4-BE49-F238E27FC236}">
                <a16:creationId xmlns:a16="http://schemas.microsoft.com/office/drawing/2014/main" id="{A0CD869C-B5D6-AF9F-2E78-568BC7146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7788"/>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AF57299-AD7D-ECEF-6409-0C40E07E6319}"/>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cxnSp>
        <p:nvCxnSpPr>
          <p:cNvPr id="58" name="Straight Connector 57">
            <a:extLst>
              <a:ext uri="{FF2B5EF4-FFF2-40B4-BE49-F238E27FC236}">
                <a16:creationId xmlns:a16="http://schemas.microsoft.com/office/drawing/2014/main" id="{E22364E6-6494-40B6-FCB3-4C08714540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7633"/>
            <a:ext cx="10905066"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5B157AA-282D-967F-F778-709CF88AD9C0}"/>
              </a:ext>
            </a:extLst>
          </p:cNvPr>
          <p:cNvSpPr txBox="1"/>
          <p:nvPr/>
        </p:nvSpPr>
        <p:spPr>
          <a:xfrm>
            <a:off x="5568962" y="1355577"/>
            <a:ext cx="6535099" cy="6617196"/>
          </a:xfrm>
          <a:prstGeom prst="rect">
            <a:avLst/>
          </a:prstGeom>
          <a:noFill/>
        </p:spPr>
        <p:txBody>
          <a:bodyPr wrap="square" rtlCol="0">
            <a:spAutoFit/>
          </a:bodyPr>
          <a:lstStyle/>
          <a:p>
            <a:r>
              <a:rPr lang="en-ZA" sz="2800" dirty="0">
                <a:solidFill>
                  <a:schemeClr val="bg1"/>
                </a:solidFill>
              </a:rPr>
              <a:t>Currently all our x variables are basic variables, meaning it consists only of 0’s and a single 1 in the table , on the 1’s position the corresponding RHS shows its value. The RHS of the objective function shows the optimal solution. If any of the slack or excess variables are also basic it means they aren’t binding constraints as they don’t use up all the resources. </a:t>
            </a: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a:p>
            <a:endParaRPr lang="en-ZA" dirty="0">
              <a:solidFill>
                <a:schemeClr val="bg1"/>
              </a:solidFill>
            </a:endParaRPr>
          </a:p>
        </p:txBody>
      </p:sp>
    </p:spTree>
    <p:extLst>
      <p:ext uri="{BB962C8B-B14F-4D97-AF65-F5344CB8AC3E}">
        <p14:creationId xmlns:p14="http://schemas.microsoft.com/office/powerpoint/2010/main" val="40776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8B2E78-0679-B721-9014-775A46142EEA}"/>
            </a:ext>
          </a:extLst>
        </p:cNvPr>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D63DCD3B-47E3-227D-88A2-07AC8AFFBF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AF5CB1C-A7DD-2F08-C2EB-92A159F99B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1" name="Rectangle 30">
            <a:extLst>
              <a:ext uri="{FF2B5EF4-FFF2-40B4-BE49-F238E27FC236}">
                <a16:creationId xmlns:a16="http://schemas.microsoft.com/office/drawing/2014/main" id="{12DABC1D-214D-FE98-1047-604DF725D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a:extLst>
              <a:ext uri="{FF2B5EF4-FFF2-40B4-BE49-F238E27FC236}">
                <a16:creationId xmlns:a16="http://schemas.microsoft.com/office/drawing/2014/main" id="{A29C230E-3D49-D7E0-E420-62C1C320AC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descr="Black 3D wave patterns">
            <a:extLst>
              <a:ext uri="{FF2B5EF4-FFF2-40B4-BE49-F238E27FC236}">
                <a16:creationId xmlns:a16="http://schemas.microsoft.com/office/drawing/2014/main" id="{7BD17080-F0F7-EB45-4AAE-57D4571F096C}"/>
              </a:ext>
            </a:extLst>
          </p:cNvPr>
          <p:cNvPicPr>
            <a:picLocks noChangeAspect="1"/>
          </p:cNvPicPr>
          <p:nvPr/>
        </p:nvPicPr>
        <p:blipFill>
          <a:blip r:embed="rId2">
            <a:extLst>
              <a:ext uri="{28A0092B-C50C-407E-A947-70E740481C1C}">
                <a14:useLocalDpi xmlns:a14="http://schemas.microsoft.com/office/drawing/2010/main" val="0"/>
              </a:ext>
            </a:extLst>
          </a:blip>
          <a:srcRect l="2081" r="2081"/>
          <a:stretch/>
        </p:blipFill>
        <p:spPr>
          <a:xfrm>
            <a:off x="0" y="0"/>
            <a:ext cx="12192000" cy="6858000"/>
          </a:xfrm>
          <a:prstGeom prst="rect">
            <a:avLst/>
          </a:prstGeom>
          <a:ln>
            <a:solidFill>
              <a:schemeClr val="accent1"/>
            </a:solidFill>
          </a:ln>
        </p:spPr>
      </p:pic>
      <p:cxnSp>
        <p:nvCxnSpPr>
          <p:cNvPr id="35" name="Straight Connector 34">
            <a:extLst>
              <a:ext uri="{FF2B5EF4-FFF2-40B4-BE49-F238E27FC236}">
                <a16:creationId xmlns:a16="http://schemas.microsoft.com/office/drawing/2014/main" id="{7EC75160-2DB9-AFFD-CCC8-5DDC39EC6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F0186C5F-8FAB-0554-C6DB-126AC38240CA}"/>
              </a:ext>
            </a:extLst>
          </p:cNvPr>
          <p:cNvSpPr>
            <a:spLocks noGrp="1"/>
          </p:cNvSpPr>
          <p:nvPr>
            <p:ph type="title"/>
          </p:nvPr>
        </p:nvSpPr>
        <p:spPr>
          <a:xfrm>
            <a:off x="3119120" y="342994"/>
            <a:ext cx="6205453" cy="1077849"/>
          </a:xfrm>
        </p:spPr>
        <p:txBody>
          <a:bodyPr vert="horz" lIns="91440" tIns="45720" rIns="91440" bIns="45720" rtlCol="0" anchor="t">
            <a:normAutofit/>
          </a:bodyPr>
          <a:lstStyle/>
          <a:p>
            <a:r>
              <a:rPr lang="en-US" b="1" dirty="0">
                <a:solidFill>
                  <a:schemeClr val="bg1"/>
                </a:solidFill>
              </a:rPr>
              <a:t>Two Phase Simplex  Example</a:t>
            </a:r>
          </a:p>
        </p:txBody>
      </p:sp>
      <p:pic>
        <p:nvPicPr>
          <p:cNvPr id="6" name="Picture 5">
            <a:extLst>
              <a:ext uri="{FF2B5EF4-FFF2-40B4-BE49-F238E27FC236}">
                <a16:creationId xmlns:a16="http://schemas.microsoft.com/office/drawing/2014/main" id="{AEF21CA4-73EF-906F-1DAC-C11E1EDBDCCD}"/>
              </a:ext>
            </a:extLst>
          </p:cNvPr>
          <p:cNvPicPr>
            <a:picLocks noChangeAspect="1"/>
          </p:cNvPicPr>
          <p:nvPr/>
        </p:nvPicPr>
        <p:blipFill>
          <a:blip r:embed="rId3"/>
          <a:stretch>
            <a:fillRect/>
          </a:stretch>
        </p:blipFill>
        <p:spPr>
          <a:xfrm>
            <a:off x="2242599" y="1014445"/>
            <a:ext cx="7706801" cy="5087060"/>
          </a:xfrm>
          <a:prstGeom prst="rect">
            <a:avLst/>
          </a:prstGeom>
        </p:spPr>
      </p:pic>
    </p:spTree>
    <p:extLst>
      <p:ext uri="{BB962C8B-B14F-4D97-AF65-F5344CB8AC3E}">
        <p14:creationId xmlns:p14="http://schemas.microsoft.com/office/powerpoint/2010/main" val="213798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3C7A7-DC74-9FB2-7FA1-15D69013A67A}"/>
            </a:ext>
          </a:extLst>
        </p:cNvPr>
        <p:cNvGrpSpPr/>
        <p:nvPr/>
      </p:nvGrpSpPr>
      <p:grpSpPr>
        <a:xfrm>
          <a:off x="0" y="0"/>
          <a:ext cx="0" cy="0"/>
          <a:chOff x="0" y="0"/>
          <a:chExt cx="0" cy="0"/>
        </a:xfrm>
      </p:grpSpPr>
      <p:cxnSp>
        <p:nvCxnSpPr>
          <p:cNvPr id="63" name="Straight Connector 62">
            <a:extLst>
              <a:ext uri="{FF2B5EF4-FFF2-40B4-BE49-F238E27FC236}">
                <a16:creationId xmlns:a16="http://schemas.microsoft.com/office/drawing/2014/main" id="{462919E4-C488-4107-9EF1-66152F8480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BF79732-4088-424C-A653-4534E43894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7" name="Rectangle 66">
            <a:extLst>
              <a:ext uri="{FF2B5EF4-FFF2-40B4-BE49-F238E27FC236}">
                <a16:creationId xmlns:a16="http://schemas.microsoft.com/office/drawing/2014/main" id="{B00A26AB-E1BA-4180-829A-BF134BA81B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99D94A9-B2E2-46A9-B26F-8AE3BFD83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Close-up of plant leaves">
            <a:extLst>
              <a:ext uri="{FF2B5EF4-FFF2-40B4-BE49-F238E27FC236}">
                <a16:creationId xmlns:a16="http://schemas.microsoft.com/office/drawing/2014/main" id="{B613B93E-D355-E25F-E4C3-F168B448B15B}"/>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t="1746" b="13984"/>
          <a:stretch>
            <a:fillRect/>
          </a:stretch>
        </p:blipFill>
        <p:spPr>
          <a:xfrm>
            <a:off x="118334" y="-299411"/>
            <a:ext cx="12191980" cy="6857990"/>
          </a:xfrm>
          <a:prstGeom prst="rect">
            <a:avLst/>
          </a:prstGeom>
        </p:spPr>
      </p:pic>
      <p:cxnSp>
        <p:nvCxnSpPr>
          <p:cNvPr id="71" name="Straight Connector 70">
            <a:extLst>
              <a:ext uri="{FF2B5EF4-FFF2-40B4-BE49-F238E27FC236}">
                <a16:creationId xmlns:a16="http://schemas.microsoft.com/office/drawing/2014/main" id="{F498A24E-F6AC-42A6-8BC2-1A91D9768F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679D7AD-A487-4DDE-950D-32D24100B1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50EAB48-36CB-3C60-7E34-6E6666BC38D1}"/>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sp>
        <p:nvSpPr>
          <p:cNvPr id="6" name="TextBox 5">
            <a:extLst>
              <a:ext uri="{FF2B5EF4-FFF2-40B4-BE49-F238E27FC236}">
                <a16:creationId xmlns:a16="http://schemas.microsoft.com/office/drawing/2014/main" id="{77947E88-1DE0-19E0-A6A3-9D68C8528CDD}"/>
              </a:ext>
            </a:extLst>
          </p:cNvPr>
          <p:cNvSpPr txBox="1"/>
          <p:nvPr/>
        </p:nvSpPr>
        <p:spPr>
          <a:xfrm>
            <a:off x="4689129" y="88362"/>
            <a:ext cx="3050391" cy="584775"/>
          </a:xfrm>
          <a:prstGeom prst="rect">
            <a:avLst/>
          </a:prstGeom>
          <a:noFill/>
        </p:spPr>
        <p:txBody>
          <a:bodyPr wrap="square" rtlCol="0">
            <a:spAutoFit/>
          </a:bodyPr>
          <a:lstStyle/>
          <a:p>
            <a:r>
              <a:rPr lang="en-ZA" sz="3200" dirty="0">
                <a:solidFill>
                  <a:schemeClr val="bg1"/>
                </a:solidFill>
              </a:rPr>
              <a:t>Canonical form</a:t>
            </a:r>
          </a:p>
        </p:txBody>
      </p:sp>
      <p:pic>
        <p:nvPicPr>
          <p:cNvPr id="7" name="Picture 6">
            <a:extLst>
              <a:ext uri="{FF2B5EF4-FFF2-40B4-BE49-F238E27FC236}">
                <a16:creationId xmlns:a16="http://schemas.microsoft.com/office/drawing/2014/main" id="{68960ADD-1969-03D8-9DDA-E0C4077ED2B5}"/>
              </a:ext>
            </a:extLst>
          </p:cNvPr>
          <p:cNvPicPr>
            <a:picLocks noChangeAspect="1"/>
          </p:cNvPicPr>
          <p:nvPr/>
        </p:nvPicPr>
        <p:blipFill>
          <a:blip r:embed="rId3"/>
          <a:stretch>
            <a:fillRect/>
          </a:stretch>
        </p:blipFill>
        <p:spPr>
          <a:xfrm>
            <a:off x="573638" y="1814554"/>
            <a:ext cx="3984492" cy="263006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FCB9AB-EE60-8FE0-C486-3C934A2A3C80}"/>
                  </a:ext>
                </a:extLst>
              </p:cNvPr>
              <p:cNvSpPr txBox="1"/>
              <p:nvPr/>
            </p:nvSpPr>
            <p:spPr>
              <a:xfrm>
                <a:off x="5232983" y="1559923"/>
                <a:ext cx="6096000" cy="3139321"/>
              </a:xfrm>
              <a:prstGeom prst="rect">
                <a:avLst/>
              </a:prstGeom>
              <a:noFill/>
            </p:spPr>
            <p:txBody>
              <a:bodyPr wrap="square" rtlCol="0">
                <a:spAutoFit/>
              </a:bodyPr>
              <a:lstStyle/>
              <a:p>
                <a:r>
                  <a:rPr lang="en-ZA" sz="3600" dirty="0">
                    <a:solidFill>
                      <a:schemeClr val="bg1"/>
                    </a:solidFill>
                  </a:rPr>
                  <a:t>W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9</m:t>
                        </m:r>
                        <m:r>
                          <a:rPr lang="ar-AE" sz="3600" i="1">
                            <a:solidFill>
                              <a:schemeClr val="bg1"/>
                            </a:solidFill>
                            <a:latin typeface="Cambria Math" panose="02040503050406030204" pitchFamily="18" charset="0"/>
                          </a:rPr>
                          <m:t>𝑥</m:t>
                        </m:r>
                      </m:e>
                      <m:sub>
                        <m:r>
                          <a:rPr lang="en-ZA" sz="3600" b="0" i="1" smtClean="0">
                            <a:solidFill>
                              <a:schemeClr val="bg1"/>
                            </a:solidFill>
                            <a:latin typeface="Cambria Math" panose="02040503050406030204" pitchFamily="18" charset="0"/>
                          </a:rPr>
                          <m:t>1</m:t>
                        </m:r>
                      </m:sub>
                    </m:sSub>
                    <m:r>
                      <a:rPr lang="en-ZA" sz="3600" b="0" i="1" smtClean="0">
                        <a:solidFill>
                          <a:schemeClr val="bg1"/>
                        </a:solidFill>
                        <a:latin typeface="Cambria Math" panose="02040503050406030204" pitchFamily="18" charset="0"/>
                      </a:rPr>
                      <m:t>+</m:t>
                    </m:r>
                  </m:oMath>
                </a14:m>
                <a:r>
                  <a:rPr lang="en-ZA" sz="3600" dirty="0">
                    <a:solidFill>
                      <a:schemeClr val="bg1"/>
                    </a:solidFill>
                  </a:rPr>
                  <a:t>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14</m:t>
                        </m:r>
                        <m:r>
                          <a:rPr lang="ar-AE" sz="3600" i="1">
                            <a:solidFill>
                              <a:schemeClr val="bg1"/>
                            </a:solidFill>
                            <a:latin typeface="Cambria Math" panose="02040503050406030204" pitchFamily="18" charset="0"/>
                          </a:rPr>
                          <m:t>𝑥</m:t>
                        </m:r>
                      </m:e>
                      <m:sub>
                        <m:r>
                          <a:rPr lang="en-ZA" sz="3600" b="0" i="1" smtClean="0">
                            <a:solidFill>
                              <a:schemeClr val="bg1"/>
                            </a:solidFill>
                            <a:latin typeface="Cambria Math" panose="02040503050406030204" pitchFamily="18" charset="0"/>
                          </a:rPr>
                          <m:t>2</m:t>
                        </m:r>
                      </m:sub>
                    </m:sSub>
                  </m:oMath>
                </a14:m>
                <a:r>
                  <a:rPr lang="en-ZA" sz="3600" dirty="0">
                    <a:solidFill>
                      <a:schemeClr val="bg1"/>
                    </a:solidFill>
                  </a:rPr>
                  <a:t>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𝑒</m:t>
                        </m:r>
                      </m:e>
                      <m:sub>
                        <m:r>
                          <a:rPr lang="en-ZA" sz="3600" i="1">
                            <a:solidFill>
                              <a:schemeClr val="bg1"/>
                            </a:solidFill>
                            <a:latin typeface="Cambria Math" panose="02040503050406030204" pitchFamily="18" charset="0"/>
                          </a:rPr>
                          <m:t>1</m:t>
                        </m:r>
                      </m:sub>
                    </m:sSub>
                  </m:oMath>
                </a14:m>
                <a:r>
                  <a:rPr lang="en-ZA" sz="3600" dirty="0">
                    <a:solidFill>
                      <a:schemeClr val="bg1"/>
                    </a:solidFill>
                  </a:rPr>
                  <a:t> - </a:t>
                </a:r>
                <a14:m>
                  <m:oMath xmlns:m="http://schemas.openxmlformats.org/officeDocument/2006/math">
                    <m:sSub>
                      <m:sSubPr>
                        <m:ctrlPr>
                          <a:rPr lang="en-ZA" sz="3600" i="1">
                            <a:solidFill>
                              <a:schemeClr val="bg1"/>
                            </a:solidFill>
                            <a:latin typeface="Cambria Math" panose="02040503050406030204" pitchFamily="18" charset="0"/>
                          </a:rPr>
                        </m:ctrlPr>
                      </m:sSubPr>
                      <m:e>
                        <m:r>
                          <a:rPr lang="en-ZA" sz="3600" i="1">
                            <a:solidFill>
                              <a:schemeClr val="bg1"/>
                            </a:solidFill>
                            <a:latin typeface="Cambria Math" panose="02040503050406030204" pitchFamily="18" charset="0"/>
                          </a:rPr>
                          <m:t>𝑒</m:t>
                        </m:r>
                      </m:e>
                      <m:sub>
                        <m:r>
                          <a:rPr lang="en-ZA" sz="3600" b="0" i="1" smtClean="0">
                            <a:solidFill>
                              <a:schemeClr val="bg1"/>
                            </a:solidFill>
                            <a:latin typeface="Cambria Math" panose="02040503050406030204" pitchFamily="18" charset="0"/>
                          </a:rPr>
                          <m:t>2</m:t>
                        </m:r>
                      </m:sub>
                    </m:sSub>
                  </m:oMath>
                </a14:m>
                <a:r>
                  <a:rPr lang="en-ZA" sz="3600" dirty="0">
                    <a:solidFill>
                      <a:schemeClr val="bg1"/>
                    </a:solidFill>
                  </a:rPr>
                  <a:t> = 52 </a:t>
                </a:r>
              </a:p>
              <a:p>
                <a:r>
                  <a:rPr lang="en-ZA" sz="3600" dirty="0">
                    <a:solidFill>
                      <a:schemeClr val="bg1"/>
                    </a:solidFill>
                  </a:rPr>
                  <a:t>Z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50</m:t>
                        </m:r>
                        <m:r>
                          <a:rPr lang="ar-AE" sz="3600" i="1">
                            <a:solidFill>
                              <a:schemeClr val="bg1"/>
                            </a:solidFill>
                            <a:latin typeface="Cambria Math" panose="02040503050406030204" pitchFamily="18" charset="0"/>
                          </a:rPr>
                          <m:t>𝑥</m:t>
                        </m:r>
                      </m:e>
                      <m:sub>
                        <m:r>
                          <a:rPr lang="en-ZA" sz="3600" i="1">
                            <a:solidFill>
                              <a:schemeClr val="bg1"/>
                            </a:solidFill>
                            <a:latin typeface="Cambria Math" panose="02040503050406030204" pitchFamily="18" charset="0"/>
                          </a:rPr>
                          <m:t>1</m:t>
                        </m:r>
                      </m:sub>
                    </m:sSub>
                  </m:oMath>
                </a14:m>
                <a:r>
                  <a:rPr lang="en-ZA" sz="3600" dirty="0">
                    <a:solidFill>
                      <a:schemeClr val="bg1"/>
                    </a:solidFill>
                  </a:rPr>
                  <a:t>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100</m:t>
                        </m:r>
                        <m:r>
                          <a:rPr lang="ar-AE" sz="3600" i="1">
                            <a:solidFill>
                              <a:schemeClr val="bg1"/>
                            </a:solidFill>
                            <a:latin typeface="Cambria Math" panose="02040503050406030204" pitchFamily="18" charset="0"/>
                          </a:rPr>
                          <m:t>𝑥</m:t>
                        </m:r>
                      </m:e>
                      <m:sub>
                        <m:r>
                          <a:rPr lang="en-ZA" sz="3600" b="0" i="1" smtClean="0">
                            <a:solidFill>
                              <a:schemeClr val="bg1"/>
                            </a:solidFill>
                            <a:latin typeface="Cambria Math" panose="02040503050406030204" pitchFamily="18" charset="0"/>
                          </a:rPr>
                          <m:t>2</m:t>
                        </m:r>
                      </m:sub>
                    </m:sSub>
                  </m:oMath>
                </a14:m>
                <a:r>
                  <a:rPr lang="en-ZA" sz="3600" dirty="0">
                    <a:solidFill>
                      <a:schemeClr val="bg1"/>
                    </a:solidFill>
                  </a:rPr>
                  <a:t> = 0</a:t>
                </a:r>
              </a:p>
              <a:p>
                <a:endParaRPr lang="en-ZA" sz="3600" dirty="0">
                  <a:solidFill>
                    <a:schemeClr val="bg1"/>
                  </a:solidFill>
                </a:endParaRPr>
              </a:p>
              <a:p>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𝑎</m:t>
                        </m:r>
                      </m:e>
                      <m:sub>
                        <m:r>
                          <a:rPr lang="en-ZA" sz="3600" i="1">
                            <a:solidFill>
                              <a:schemeClr val="bg1"/>
                            </a:solidFill>
                            <a:latin typeface="Cambria Math" panose="02040503050406030204" pitchFamily="18" charset="0"/>
                          </a:rPr>
                          <m:t>1</m:t>
                        </m:r>
                      </m:sub>
                    </m:sSub>
                  </m:oMath>
                </a14:m>
                <a:r>
                  <a:rPr lang="en-ZA" sz="3600" dirty="0">
                    <a:solidFill>
                      <a:schemeClr val="bg1"/>
                    </a:solidFill>
                  </a:rPr>
                  <a:t> = 28 -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7</m:t>
                        </m:r>
                        <m:r>
                          <a:rPr lang="ar-AE" sz="3600" i="1">
                            <a:solidFill>
                              <a:schemeClr val="bg1"/>
                            </a:solidFill>
                            <a:latin typeface="Cambria Math" panose="02040503050406030204" pitchFamily="18" charset="0"/>
                          </a:rPr>
                          <m:t>𝑥</m:t>
                        </m:r>
                      </m:e>
                      <m:sub>
                        <m:r>
                          <a:rPr lang="en-ZA" sz="3600" i="1">
                            <a:solidFill>
                              <a:schemeClr val="bg1"/>
                            </a:solidFill>
                            <a:latin typeface="Cambria Math" panose="02040503050406030204" pitchFamily="18" charset="0"/>
                          </a:rPr>
                          <m:t>1</m:t>
                        </m:r>
                      </m:sub>
                    </m:sSub>
                    <m:r>
                      <a:rPr lang="en-ZA" sz="3600" b="0" i="1" smtClean="0">
                        <a:solidFill>
                          <a:schemeClr val="bg1"/>
                        </a:solidFill>
                        <a:latin typeface="Cambria Math" panose="02040503050406030204" pitchFamily="18" charset="0"/>
                      </a:rPr>
                      <m:t>−</m:t>
                    </m:r>
                  </m:oMath>
                </a14:m>
                <a:r>
                  <a:rPr lang="en-ZA" sz="3600" dirty="0">
                    <a:solidFill>
                      <a:schemeClr val="bg1"/>
                    </a:solidFill>
                  </a:rPr>
                  <a:t>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2</m:t>
                        </m:r>
                        <m:r>
                          <a:rPr lang="ar-AE" sz="3600" i="1">
                            <a:solidFill>
                              <a:schemeClr val="bg1"/>
                            </a:solidFill>
                            <a:latin typeface="Cambria Math" panose="02040503050406030204" pitchFamily="18" charset="0"/>
                          </a:rPr>
                          <m:t>𝑥</m:t>
                        </m:r>
                      </m:e>
                      <m:sub>
                        <m:r>
                          <a:rPr lang="en-ZA" sz="3600" i="1">
                            <a:solidFill>
                              <a:schemeClr val="bg1"/>
                            </a:solidFill>
                            <a:latin typeface="Cambria Math" panose="02040503050406030204" pitchFamily="18" charset="0"/>
                          </a:rPr>
                          <m:t>2</m:t>
                        </m:r>
                      </m:sub>
                    </m:sSub>
                  </m:oMath>
                </a14:m>
                <a:r>
                  <a:rPr lang="en-ZA" sz="3600" dirty="0">
                    <a:solidFill>
                      <a:schemeClr val="bg1"/>
                    </a:solidFill>
                  </a:rPr>
                  <a:t> + </a:t>
                </a:r>
                <a14:m>
                  <m:oMath xmlns:m="http://schemas.openxmlformats.org/officeDocument/2006/math">
                    <m:sSub>
                      <m:sSubPr>
                        <m:ctrlPr>
                          <a:rPr lang="en-ZA" sz="3600" i="1">
                            <a:solidFill>
                              <a:schemeClr val="bg1"/>
                            </a:solidFill>
                            <a:latin typeface="Cambria Math" panose="02040503050406030204" pitchFamily="18" charset="0"/>
                          </a:rPr>
                        </m:ctrlPr>
                      </m:sSubPr>
                      <m:e>
                        <m:r>
                          <a:rPr lang="en-ZA" sz="3600" i="1">
                            <a:solidFill>
                              <a:schemeClr val="bg1"/>
                            </a:solidFill>
                            <a:latin typeface="Cambria Math" panose="02040503050406030204" pitchFamily="18" charset="0"/>
                          </a:rPr>
                          <m:t>𝑒</m:t>
                        </m:r>
                      </m:e>
                      <m:sub>
                        <m:r>
                          <a:rPr lang="en-ZA" sz="3600" i="1">
                            <a:solidFill>
                              <a:schemeClr val="bg1"/>
                            </a:solidFill>
                            <a:latin typeface="Cambria Math" panose="02040503050406030204" pitchFamily="18" charset="0"/>
                          </a:rPr>
                          <m:t>1</m:t>
                        </m:r>
                      </m:sub>
                    </m:sSub>
                  </m:oMath>
                </a14:m>
                <a:endParaRPr lang="en-ZA" sz="3600" dirty="0">
                  <a:solidFill>
                    <a:schemeClr val="bg1"/>
                  </a:solidFill>
                </a:endParaRPr>
              </a:p>
              <a:p>
                <a14:m>
                  <m:oMath xmlns:m="http://schemas.openxmlformats.org/officeDocument/2006/math">
                    <m:sSub>
                      <m:sSubPr>
                        <m:ctrlPr>
                          <a:rPr lang="en-ZA" sz="3600" i="1">
                            <a:solidFill>
                              <a:schemeClr val="bg1"/>
                            </a:solidFill>
                            <a:latin typeface="Cambria Math" panose="02040503050406030204" pitchFamily="18" charset="0"/>
                          </a:rPr>
                        </m:ctrlPr>
                      </m:sSubPr>
                      <m:e>
                        <m:r>
                          <a:rPr lang="en-ZA" sz="3600" i="1">
                            <a:solidFill>
                              <a:schemeClr val="bg1"/>
                            </a:solidFill>
                            <a:latin typeface="Cambria Math" panose="02040503050406030204" pitchFamily="18" charset="0"/>
                          </a:rPr>
                          <m:t>𝑎</m:t>
                        </m:r>
                      </m:e>
                      <m:sub>
                        <m:r>
                          <a:rPr lang="en-ZA" sz="3600" b="0" i="1" smtClean="0">
                            <a:solidFill>
                              <a:schemeClr val="bg1"/>
                            </a:solidFill>
                            <a:latin typeface="Cambria Math" panose="02040503050406030204" pitchFamily="18" charset="0"/>
                          </a:rPr>
                          <m:t>2</m:t>
                        </m:r>
                      </m:sub>
                    </m:sSub>
                  </m:oMath>
                </a14:m>
                <a:r>
                  <a:rPr lang="en-ZA" sz="3600" dirty="0">
                    <a:solidFill>
                      <a:schemeClr val="bg1"/>
                    </a:solidFill>
                  </a:rPr>
                  <a:t> = 24 - </a:t>
                </a:r>
                <a14:m>
                  <m:oMath xmlns:m="http://schemas.openxmlformats.org/officeDocument/2006/math">
                    <m:sSub>
                      <m:sSubPr>
                        <m:ctrlPr>
                          <a:rPr lang="en-ZA" sz="3600" b="0" i="1" smtClean="0">
                            <a:solidFill>
                              <a:schemeClr val="bg1"/>
                            </a:solidFill>
                            <a:latin typeface="Cambria Math" panose="02040503050406030204" pitchFamily="18" charset="0"/>
                          </a:rPr>
                        </m:ctrlPr>
                      </m:sSubPr>
                      <m:e>
                        <m:r>
                          <a:rPr lang="en-ZA" sz="3600" b="0" i="1" smtClean="0">
                            <a:solidFill>
                              <a:schemeClr val="bg1"/>
                            </a:solidFill>
                            <a:latin typeface="Cambria Math" panose="02040503050406030204" pitchFamily="18" charset="0"/>
                          </a:rPr>
                          <m:t>2</m:t>
                        </m:r>
                        <m:r>
                          <a:rPr lang="ar-AE" sz="3600" i="1">
                            <a:solidFill>
                              <a:schemeClr val="bg1"/>
                            </a:solidFill>
                            <a:latin typeface="Cambria Math" panose="02040503050406030204" pitchFamily="18" charset="0"/>
                          </a:rPr>
                          <m:t>𝑥</m:t>
                        </m:r>
                      </m:e>
                      <m:sub>
                        <m:r>
                          <a:rPr lang="en-ZA" sz="3600" i="1">
                            <a:solidFill>
                              <a:schemeClr val="bg1"/>
                            </a:solidFill>
                            <a:latin typeface="Cambria Math" panose="02040503050406030204" pitchFamily="18" charset="0"/>
                          </a:rPr>
                          <m:t>1</m:t>
                        </m:r>
                      </m:sub>
                    </m:sSub>
                    <m:r>
                      <a:rPr lang="en-ZA" sz="3600" b="0" i="1" smtClean="0">
                        <a:solidFill>
                          <a:schemeClr val="bg1"/>
                        </a:solidFill>
                        <a:latin typeface="Cambria Math" panose="02040503050406030204" pitchFamily="18" charset="0"/>
                      </a:rPr>
                      <m:t>−</m:t>
                    </m:r>
                  </m:oMath>
                </a14:m>
                <a:r>
                  <a:rPr lang="en-ZA" sz="3600" dirty="0">
                    <a:solidFill>
                      <a:schemeClr val="bg1"/>
                    </a:solidFill>
                  </a:rPr>
                  <a:t> </a:t>
                </a:r>
                <a14:m>
                  <m:oMath xmlns:m="http://schemas.openxmlformats.org/officeDocument/2006/math">
                    <m:sSub>
                      <m:sSubPr>
                        <m:ctrlPr>
                          <a:rPr lang="en-ZA" sz="3600" i="1">
                            <a:solidFill>
                              <a:schemeClr val="bg1"/>
                            </a:solidFill>
                            <a:latin typeface="Cambria Math" panose="02040503050406030204" pitchFamily="18" charset="0"/>
                          </a:rPr>
                        </m:ctrlPr>
                      </m:sSubPr>
                      <m:e>
                        <m:r>
                          <a:rPr lang="en-ZA" sz="3600" i="1">
                            <a:solidFill>
                              <a:schemeClr val="bg1"/>
                            </a:solidFill>
                            <a:latin typeface="Cambria Math" panose="02040503050406030204" pitchFamily="18" charset="0"/>
                          </a:rPr>
                          <m:t>12</m:t>
                        </m:r>
                        <m:r>
                          <a:rPr lang="ar-AE" sz="3600" i="1">
                            <a:solidFill>
                              <a:schemeClr val="bg1"/>
                            </a:solidFill>
                            <a:latin typeface="Cambria Math" panose="02040503050406030204" pitchFamily="18" charset="0"/>
                          </a:rPr>
                          <m:t>𝑥</m:t>
                        </m:r>
                      </m:e>
                      <m:sub>
                        <m:r>
                          <a:rPr lang="en-ZA" sz="3600" i="1">
                            <a:solidFill>
                              <a:schemeClr val="bg1"/>
                            </a:solidFill>
                            <a:latin typeface="Cambria Math" panose="02040503050406030204" pitchFamily="18" charset="0"/>
                          </a:rPr>
                          <m:t>2</m:t>
                        </m:r>
                      </m:sub>
                    </m:sSub>
                  </m:oMath>
                </a14:m>
                <a:r>
                  <a:rPr lang="en-ZA" sz="3600" dirty="0">
                    <a:solidFill>
                      <a:schemeClr val="bg1"/>
                    </a:solidFill>
                  </a:rPr>
                  <a:t> + </a:t>
                </a:r>
                <a14:m>
                  <m:oMath xmlns:m="http://schemas.openxmlformats.org/officeDocument/2006/math">
                    <m:sSub>
                      <m:sSubPr>
                        <m:ctrlPr>
                          <a:rPr lang="en-ZA" sz="3600" i="1">
                            <a:solidFill>
                              <a:schemeClr val="bg1"/>
                            </a:solidFill>
                            <a:latin typeface="Cambria Math" panose="02040503050406030204" pitchFamily="18" charset="0"/>
                          </a:rPr>
                        </m:ctrlPr>
                      </m:sSubPr>
                      <m:e>
                        <m:r>
                          <a:rPr lang="en-ZA" sz="3600" i="1">
                            <a:solidFill>
                              <a:schemeClr val="bg1"/>
                            </a:solidFill>
                            <a:latin typeface="Cambria Math" panose="02040503050406030204" pitchFamily="18" charset="0"/>
                          </a:rPr>
                          <m:t>𝑒</m:t>
                        </m:r>
                      </m:e>
                      <m:sub>
                        <m:r>
                          <a:rPr lang="en-ZA" sz="3600" i="1">
                            <a:solidFill>
                              <a:schemeClr val="bg1"/>
                            </a:solidFill>
                            <a:latin typeface="Cambria Math" panose="02040503050406030204" pitchFamily="18" charset="0"/>
                          </a:rPr>
                          <m:t>1</m:t>
                        </m:r>
                      </m:sub>
                    </m:sSub>
                  </m:oMath>
                </a14:m>
                <a:endParaRPr lang="en-ZA" sz="3600" dirty="0">
                  <a:solidFill>
                    <a:schemeClr val="bg1"/>
                  </a:solidFill>
                </a:endParaRPr>
              </a:p>
              <a:p>
                <a:endParaRPr lang="en-ZA" dirty="0">
                  <a:solidFill>
                    <a:schemeClr val="bg1"/>
                  </a:solidFill>
                </a:endParaRPr>
              </a:p>
            </p:txBody>
          </p:sp>
        </mc:Choice>
        <mc:Fallback xmlns="">
          <p:sp>
            <p:nvSpPr>
              <p:cNvPr id="9" name="TextBox 8">
                <a:extLst>
                  <a:ext uri="{FF2B5EF4-FFF2-40B4-BE49-F238E27FC236}">
                    <a16:creationId xmlns:a16="http://schemas.microsoft.com/office/drawing/2014/main" id="{23FCB9AB-EE60-8FE0-C486-3C934A2A3C80}"/>
                  </a:ext>
                </a:extLst>
              </p:cNvPr>
              <p:cNvSpPr txBox="1">
                <a:spLocks noRot="1" noChangeAspect="1" noMove="1" noResize="1" noEditPoints="1" noAdjustHandles="1" noChangeArrowheads="1" noChangeShapeType="1" noTextEdit="1"/>
              </p:cNvSpPr>
              <p:nvPr/>
            </p:nvSpPr>
            <p:spPr>
              <a:xfrm>
                <a:off x="5232983" y="1559923"/>
                <a:ext cx="6096000" cy="3139321"/>
              </a:xfrm>
              <a:prstGeom prst="rect">
                <a:avLst/>
              </a:prstGeom>
              <a:blipFill>
                <a:blip r:embed="rId4"/>
                <a:stretch>
                  <a:fillRect l="-3000" t="-3107" r="-4900"/>
                </a:stretch>
              </a:blipFill>
            </p:spPr>
            <p:txBody>
              <a:bodyPr/>
              <a:lstStyle/>
              <a:p>
                <a:r>
                  <a:rPr lang="en-ZA">
                    <a:noFill/>
                  </a:rPr>
                  <a:t> </a:t>
                </a:r>
              </a:p>
            </p:txBody>
          </p:sp>
        </mc:Fallback>
      </mc:AlternateContent>
    </p:spTree>
    <p:extLst>
      <p:ext uri="{BB962C8B-B14F-4D97-AF65-F5344CB8AC3E}">
        <p14:creationId xmlns:p14="http://schemas.microsoft.com/office/powerpoint/2010/main" val="4183813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1C1299-31B9-E74B-AAD3-BEEDD660CADC}"/>
            </a:ext>
          </a:extLst>
        </p:cNvPr>
        <p:cNvGrpSpPr/>
        <p:nvPr/>
      </p:nvGrpSpPr>
      <p:grpSpPr>
        <a:xfrm>
          <a:off x="0" y="0"/>
          <a:ext cx="0" cy="0"/>
          <a:chOff x="0" y="0"/>
          <a:chExt cx="0" cy="0"/>
        </a:xfrm>
      </p:grpSpPr>
      <p:cxnSp>
        <p:nvCxnSpPr>
          <p:cNvPr id="63" name="Straight Connector 62">
            <a:extLst>
              <a:ext uri="{FF2B5EF4-FFF2-40B4-BE49-F238E27FC236}">
                <a16:creationId xmlns:a16="http://schemas.microsoft.com/office/drawing/2014/main" id="{08316D7C-F6B0-660B-C4AD-E98C907AF2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F336586-B0FC-23D3-BBA6-4C3B71FA5F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7" name="Rectangle 66">
            <a:extLst>
              <a:ext uri="{FF2B5EF4-FFF2-40B4-BE49-F238E27FC236}">
                <a16:creationId xmlns:a16="http://schemas.microsoft.com/office/drawing/2014/main" id="{191FE0DF-09BC-2B08-487D-0A598E66E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E1F6BA7-01F9-2CB4-DB38-BC175A5523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Close-up of plant leaves">
            <a:extLst>
              <a:ext uri="{FF2B5EF4-FFF2-40B4-BE49-F238E27FC236}">
                <a16:creationId xmlns:a16="http://schemas.microsoft.com/office/drawing/2014/main" id="{4AD29DA6-D9E3-A775-C579-ED111BA727D2}"/>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t="1746" b="13984"/>
          <a:stretch>
            <a:fillRect/>
          </a:stretch>
        </p:blipFill>
        <p:spPr>
          <a:xfrm>
            <a:off x="55374" y="-96517"/>
            <a:ext cx="12191980" cy="6857990"/>
          </a:xfrm>
          <a:prstGeom prst="rect">
            <a:avLst/>
          </a:prstGeom>
        </p:spPr>
      </p:pic>
      <p:cxnSp>
        <p:nvCxnSpPr>
          <p:cNvPr id="71" name="Straight Connector 70">
            <a:extLst>
              <a:ext uri="{FF2B5EF4-FFF2-40B4-BE49-F238E27FC236}">
                <a16:creationId xmlns:a16="http://schemas.microsoft.com/office/drawing/2014/main" id="{F3CFC2E5-FDAD-A38E-67D3-AB22534B9B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BF8EAAD-9420-03CA-02CA-14E0C30C08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5FE9414-6BAA-BEF5-2B4B-54D51D79E630}"/>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pic>
        <p:nvPicPr>
          <p:cNvPr id="3" name="Picture 2">
            <a:extLst>
              <a:ext uri="{FF2B5EF4-FFF2-40B4-BE49-F238E27FC236}">
                <a16:creationId xmlns:a16="http://schemas.microsoft.com/office/drawing/2014/main" id="{611A465E-D53A-88AD-D217-1ECFD42E793F}"/>
              </a:ext>
            </a:extLst>
          </p:cNvPr>
          <p:cNvPicPr>
            <a:picLocks noChangeAspect="1"/>
          </p:cNvPicPr>
          <p:nvPr/>
        </p:nvPicPr>
        <p:blipFill>
          <a:blip r:embed="rId3"/>
          <a:stretch>
            <a:fillRect/>
          </a:stretch>
        </p:blipFill>
        <p:spPr>
          <a:xfrm>
            <a:off x="2698069" y="1066890"/>
            <a:ext cx="6906589" cy="1485898"/>
          </a:xfrm>
          <a:prstGeom prst="rect">
            <a:avLst/>
          </a:prstGeom>
        </p:spPr>
      </p:pic>
      <p:sp>
        <p:nvSpPr>
          <p:cNvPr id="4" name="TextBox 3">
            <a:extLst>
              <a:ext uri="{FF2B5EF4-FFF2-40B4-BE49-F238E27FC236}">
                <a16:creationId xmlns:a16="http://schemas.microsoft.com/office/drawing/2014/main" id="{4C4AF77D-1A03-CDEF-2A4A-826CA93424F8}"/>
              </a:ext>
            </a:extLst>
          </p:cNvPr>
          <p:cNvSpPr txBox="1"/>
          <p:nvPr/>
        </p:nvSpPr>
        <p:spPr>
          <a:xfrm>
            <a:off x="5013434" y="208335"/>
            <a:ext cx="1976646" cy="584775"/>
          </a:xfrm>
          <a:prstGeom prst="rect">
            <a:avLst/>
          </a:prstGeom>
          <a:noFill/>
        </p:spPr>
        <p:txBody>
          <a:bodyPr wrap="square" rtlCol="0">
            <a:spAutoFit/>
          </a:bodyPr>
          <a:lstStyle/>
          <a:p>
            <a:r>
              <a:rPr lang="en-ZA" sz="3200" dirty="0">
                <a:solidFill>
                  <a:schemeClr val="bg1"/>
                </a:solidFill>
              </a:rPr>
              <a:t>Tableau's</a:t>
            </a:r>
          </a:p>
        </p:txBody>
      </p:sp>
      <p:pic>
        <p:nvPicPr>
          <p:cNvPr id="6" name="Picture 5">
            <a:extLst>
              <a:ext uri="{FF2B5EF4-FFF2-40B4-BE49-F238E27FC236}">
                <a16:creationId xmlns:a16="http://schemas.microsoft.com/office/drawing/2014/main" id="{7494D048-8625-A762-C2F2-AC59C52FB7E8}"/>
              </a:ext>
            </a:extLst>
          </p:cNvPr>
          <p:cNvPicPr>
            <a:picLocks noChangeAspect="1"/>
          </p:cNvPicPr>
          <p:nvPr/>
        </p:nvPicPr>
        <p:blipFill>
          <a:blip r:embed="rId4"/>
          <a:stretch>
            <a:fillRect/>
          </a:stretch>
        </p:blipFill>
        <p:spPr>
          <a:xfrm>
            <a:off x="2736174" y="2826568"/>
            <a:ext cx="6830378" cy="1485898"/>
          </a:xfrm>
          <a:prstGeom prst="rect">
            <a:avLst/>
          </a:prstGeom>
        </p:spPr>
      </p:pic>
      <p:pic>
        <p:nvPicPr>
          <p:cNvPr id="9" name="Picture 8">
            <a:extLst>
              <a:ext uri="{FF2B5EF4-FFF2-40B4-BE49-F238E27FC236}">
                <a16:creationId xmlns:a16="http://schemas.microsoft.com/office/drawing/2014/main" id="{7DE5BE7E-DF34-2A62-02DE-ABAFB1B2A638}"/>
              </a:ext>
            </a:extLst>
          </p:cNvPr>
          <p:cNvPicPr>
            <a:picLocks noChangeAspect="1"/>
          </p:cNvPicPr>
          <p:nvPr/>
        </p:nvPicPr>
        <p:blipFill>
          <a:blip r:embed="rId5"/>
          <a:stretch>
            <a:fillRect/>
          </a:stretch>
        </p:blipFill>
        <p:spPr>
          <a:xfrm>
            <a:off x="3395482" y="4802412"/>
            <a:ext cx="5401036" cy="1055504"/>
          </a:xfrm>
          <a:prstGeom prst="rect">
            <a:avLst/>
          </a:prstGeom>
        </p:spPr>
      </p:pic>
    </p:spTree>
    <p:extLst>
      <p:ext uri="{BB962C8B-B14F-4D97-AF65-F5344CB8AC3E}">
        <p14:creationId xmlns:p14="http://schemas.microsoft.com/office/powerpoint/2010/main" val="3107034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B92F4A-DC5B-0C5B-56EC-F3AC109CCFFE}"/>
            </a:ext>
          </a:extLst>
        </p:cNvPr>
        <p:cNvGrpSpPr/>
        <p:nvPr/>
      </p:nvGrpSpPr>
      <p:grpSpPr>
        <a:xfrm>
          <a:off x="0" y="0"/>
          <a:ext cx="0" cy="0"/>
          <a:chOff x="0" y="0"/>
          <a:chExt cx="0" cy="0"/>
        </a:xfrm>
      </p:grpSpPr>
      <p:cxnSp>
        <p:nvCxnSpPr>
          <p:cNvPr id="63" name="Straight Connector 62">
            <a:extLst>
              <a:ext uri="{FF2B5EF4-FFF2-40B4-BE49-F238E27FC236}">
                <a16:creationId xmlns:a16="http://schemas.microsoft.com/office/drawing/2014/main" id="{09A3F558-223C-5EE4-C03C-7065B7F06F7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583A5D2-1160-A3AE-94A1-886FBFC960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67" name="Rectangle 66">
            <a:extLst>
              <a:ext uri="{FF2B5EF4-FFF2-40B4-BE49-F238E27FC236}">
                <a16:creationId xmlns:a16="http://schemas.microsoft.com/office/drawing/2014/main" id="{2DA1F44A-AA55-8966-8800-858F4B460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7A17EFB-9DAF-9F34-1F52-E8B41EAFF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Close-up of plant leaves">
            <a:extLst>
              <a:ext uri="{FF2B5EF4-FFF2-40B4-BE49-F238E27FC236}">
                <a16:creationId xmlns:a16="http://schemas.microsoft.com/office/drawing/2014/main" id="{2B3A6D84-CB35-E233-13BB-01FDDB5E50FC}"/>
              </a:ext>
            </a:extLst>
          </p:cNvPr>
          <p:cNvPicPr>
            <a:picLocks noChangeAspect="1"/>
          </p:cNvPicPr>
          <p:nvPr/>
        </p:nvPicPr>
        <p:blipFill>
          <a:blip r:embed="rId2">
            <a:alphaModFix amt="40000"/>
            <a:extLst>
              <a:ext uri="{28A0092B-C50C-407E-A947-70E740481C1C}">
                <a14:useLocalDpi xmlns:a14="http://schemas.microsoft.com/office/drawing/2010/main" val="0"/>
              </a:ext>
            </a:extLst>
          </a:blip>
          <a:srcRect t="1746" b="13984"/>
          <a:stretch>
            <a:fillRect/>
          </a:stretch>
        </p:blipFill>
        <p:spPr>
          <a:xfrm>
            <a:off x="55374" y="-96517"/>
            <a:ext cx="12191980" cy="6857990"/>
          </a:xfrm>
          <a:prstGeom prst="rect">
            <a:avLst/>
          </a:prstGeom>
        </p:spPr>
      </p:pic>
      <p:cxnSp>
        <p:nvCxnSpPr>
          <p:cNvPr id="71" name="Straight Connector 70">
            <a:extLst>
              <a:ext uri="{FF2B5EF4-FFF2-40B4-BE49-F238E27FC236}">
                <a16:creationId xmlns:a16="http://schemas.microsoft.com/office/drawing/2014/main" id="{B24580E3-6AC9-F330-46FB-31A0D06DC0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C786867-0951-2F25-A4D0-D82BEC9200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D40877-BD57-3FC1-761F-F90B629BE4D2}"/>
              </a:ext>
            </a:extLst>
          </p:cNvPr>
          <p:cNvSpPr txBox="1"/>
          <p:nvPr/>
        </p:nvSpPr>
        <p:spPr>
          <a:xfrm>
            <a:off x="5013434" y="952500"/>
            <a:ext cx="6535098" cy="508043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endParaRPr lang="en-US" dirty="0">
              <a:solidFill>
                <a:schemeClr val="bg1"/>
              </a:solidFill>
            </a:endParaRPr>
          </a:p>
        </p:txBody>
      </p:sp>
      <p:sp>
        <p:nvSpPr>
          <p:cNvPr id="4" name="TextBox 3">
            <a:extLst>
              <a:ext uri="{FF2B5EF4-FFF2-40B4-BE49-F238E27FC236}">
                <a16:creationId xmlns:a16="http://schemas.microsoft.com/office/drawing/2014/main" id="{A7E2878D-2EB3-7488-9E85-6087D20A2F61}"/>
              </a:ext>
            </a:extLst>
          </p:cNvPr>
          <p:cNvSpPr txBox="1"/>
          <p:nvPr/>
        </p:nvSpPr>
        <p:spPr>
          <a:xfrm>
            <a:off x="5013434" y="208335"/>
            <a:ext cx="2718326" cy="584775"/>
          </a:xfrm>
          <a:prstGeom prst="rect">
            <a:avLst/>
          </a:prstGeom>
          <a:noFill/>
        </p:spPr>
        <p:txBody>
          <a:bodyPr wrap="square" rtlCol="0">
            <a:spAutoFit/>
          </a:bodyPr>
          <a:lstStyle/>
          <a:p>
            <a:r>
              <a:rPr lang="en-ZA" sz="3200" dirty="0">
                <a:solidFill>
                  <a:schemeClr val="bg1"/>
                </a:solidFill>
              </a:rPr>
              <a:t>Conclusion</a:t>
            </a:r>
          </a:p>
        </p:txBody>
      </p:sp>
      <p:pic>
        <p:nvPicPr>
          <p:cNvPr id="9" name="Picture 8">
            <a:extLst>
              <a:ext uri="{FF2B5EF4-FFF2-40B4-BE49-F238E27FC236}">
                <a16:creationId xmlns:a16="http://schemas.microsoft.com/office/drawing/2014/main" id="{98EF512F-93E9-7401-899C-5F15ECB660F2}"/>
              </a:ext>
            </a:extLst>
          </p:cNvPr>
          <p:cNvPicPr>
            <a:picLocks noChangeAspect="1"/>
          </p:cNvPicPr>
          <p:nvPr/>
        </p:nvPicPr>
        <p:blipFill>
          <a:blip r:embed="rId3"/>
          <a:stretch>
            <a:fillRect/>
          </a:stretch>
        </p:blipFill>
        <p:spPr>
          <a:xfrm>
            <a:off x="2548383" y="959644"/>
            <a:ext cx="7095234" cy="1209972"/>
          </a:xfrm>
          <a:prstGeom prst="rect">
            <a:avLst/>
          </a:prstGeom>
        </p:spPr>
      </p:pic>
      <p:sp>
        <p:nvSpPr>
          <p:cNvPr id="2" name="TextBox 1">
            <a:extLst>
              <a:ext uri="{FF2B5EF4-FFF2-40B4-BE49-F238E27FC236}">
                <a16:creationId xmlns:a16="http://schemas.microsoft.com/office/drawing/2014/main" id="{F203B488-3225-2FCA-C05F-14A41EDAC2C3}"/>
              </a:ext>
            </a:extLst>
          </p:cNvPr>
          <p:cNvSpPr txBox="1"/>
          <p:nvPr/>
        </p:nvSpPr>
        <p:spPr>
          <a:xfrm>
            <a:off x="1363717" y="2701407"/>
            <a:ext cx="10017760" cy="2862322"/>
          </a:xfrm>
          <a:prstGeom prst="rect">
            <a:avLst/>
          </a:prstGeom>
          <a:noFill/>
        </p:spPr>
        <p:txBody>
          <a:bodyPr wrap="square" rtlCol="0">
            <a:spAutoFit/>
          </a:bodyPr>
          <a:lstStyle/>
          <a:p>
            <a:r>
              <a:rPr lang="en-US" dirty="0">
                <a:solidFill>
                  <a:schemeClr val="bg1"/>
                </a:solidFill>
              </a:rPr>
              <a:t>In conclusion the Two-Phase Simplex Algorithm is necessary when constraints use ≥ or = signs, because the origin is not a feasible starting point for standard Primal Simplex. In Phase 1, we rewrite all inequalities as equalities by adding slack, excess, and artificial variables. We then minimize the W function to drive all artificial variables out of the solution. If W equals zero at optimality, we have a feasible solution and can proceed. In Phase 2, we drop the W row and all artificial variables, then pivot on the Z row until we reach the optimal solution  checking for the largest negative coefficient in a minimization problem. As shown in our worked example, minimizing Z = 50x₁ + 100x₂ gave us x₁ = 3.6, x₂ = 1.4, with a minimum Z of 320.The key takeaway is that this method gives us a structured, two-step way to first find feasibility, then achieve optimality .</a:t>
            </a:r>
            <a:endParaRPr lang="en-ZA" dirty="0">
              <a:solidFill>
                <a:schemeClr val="bg1"/>
              </a:solidFill>
            </a:endParaRPr>
          </a:p>
        </p:txBody>
      </p:sp>
    </p:spTree>
    <p:extLst>
      <p:ext uri="{BB962C8B-B14F-4D97-AF65-F5344CB8AC3E}">
        <p14:creationId xmlns:p14="http://schemas.microsoft.com/office/powerpoint/2010/main" val="4135576350"/>
      </p:ext>
    </p:extLst>
  </p:cSld>
  <p:clrMapOvr>
    <a:masterClrMapping/>
  </p:clrMapOvr>
</p:sld>
</file>

<file path=ppt/theme/theme1.xml><?xml version="1.0" encoding="utf-8"?>
<a:theme xmlns:a="http://schemas.openxmlformats.org/drawingml/2006/main" name="TribuneVTI">
  <a:themeElements>
    <a:clrScheme name="amasis">
      <a:dk1>
        <a:sysClr val="windowText" lastClr="000000"/>
      </a:dk1>
      <a:lt1>
        <a:sysClr val="window" lastClr="FFFFFF"/>
      </a:lt1>
      <a:dk2>
        <a:srgbClr val="470401"/>
      </a:dk2>
      <a:lt2>
        <a:srgbClr val="EBE2E2"/>
      </a:lt2>
      <a:accent1>
        <a:srgbClr val="BD1209"/>
      </a:accent1>
      <a:accent2>
        <a:srgbClr val="F40600"/>
      </a:accent2>
      <a:accent3>
        <a:srgbClr val="F26216"/>
      </a:accent3>
      <a:accent4>
        <a:srgbClr val="F0800D"/>
      </a:accent4>
      <a:accent5>
        <a:srgbClr val="3EA8B6"/>
      </a:accent5>
      <a:accent6>
        <a:srgbClr val="005B6B"/>
      </a:accent6>
      <a:hlink>
        <a:srgbClr val="F40600"/>
      </a:hlink>
      <a:folHlink>
        <a:srgbClr val="1C7E8E"/>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BC9547720EC42B47E9C4C8244DA90" ma:contentTypeVersion="9" ma:contentTypeDescription="Create a new document." ma:contentTypeScope="" ma:versionID="e20b00043e0f5fad1c5725052c849407">
  <xsd:schema xmlns:xsd="http://www.w3.org/2001/XMLSchema" xmlns:xs="http://www.w3.org/2001/XMLSchema" xmlns:p="http://schemas.microsoft.com/office/2006/metadata/properties" xmlns:ns3="0cdc769f-ff7d-41a0-b2ce-957fe5321e64" targetNamespace="http://schemas.microsoft.com/office/2006/metadata/properties" ma:root="true" ma:fieldsID="25cd3e87bb8d3d54364361098f2987a3" ns3:_="">
    <xsd:import namespace="0cdc769f-ff7d-41a0-b2ce-957fe5321e6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dc769f-ff7d-41a0-b2ce-957fe5321e6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0cdc769f-ff7d-41a0-b2ce-957fe5321e64" xsi:nil="true"/>
  </documentManagement>
</p:properties>
</file>

<file path=customXml/itemProps1.xml><?xml version="1.0" encoding="utf-8"?>
<ds:datastoreItem xmlns:ds="http://schemas.openxmlformats.org/officeDocument/2006/customXml" ds:itemID="{901007D5-282D-4408-ACDA-BFB1DA1B3078}">
  <ds:schemaRefs>
    <ds:schemaRef ds:uri="http://schemas.microsoft.com/sharepoint/v3/contenttype/forms"/>
  </ds:schemaRefs>
</ds:datastoreItem>
</file>

<file path=customXml/itemProps2.xml><?xml version="1.0" encoding="utf-8"?>
<ds:datastoreItem xmlns:ds="http://schemas.openxmlformats.org/officeDocument/2006/customXml" ds:itemID="{5F79518F-76A4-4124-8E9F-98F156A252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dc769f-ff7d-41a0-b2ce-957fe5321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775E49A-E48C-4CED-87EF-110DC67A75B4}">
  <ds:schemaRefs>
    <ds:schemaRef ds:uri="http://schemas.microsoft.com/office/2006/documentManagement/types"/>
    <ds:schemaRef ds:uri="http://www.w3.org/XML/1998/namespace"/>
    <ds:schemaRef ds:uri="http://schemas.openxmlformats.org/package/2006/metadata/core-properties"/>
    <ds:schemaRef ds:uri="0cdc769f-ff7d-41a0-b2ce-957fe5321e64"/>
    <ds:schemaRef ds:uri="http://purl.org/dc/dcmitype/"/>
    <ds:schemaRef ds:uri="http://purl.org/dc/terms/"/>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274</TotalTime>
  <Words>1251</Words>
  <Application>Microsoft Office PowerPoint</Application>
  <PresentationFormat>Widescreen</PresentationFormat>
  <Paragraphs>104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Amasis MT Pro Medium</vt:lpstr>
      <vt:lpstr>Arial</vt:lpstr>
      <vt:lpstr>Cambria Math</vt:lpstr>
      <vt:lpstr>Univers Light</vt:lpstr>
      <vt:lpstr>TribuneVTI</vt:lpstr>
      <vt:lpstr>Two Phase Simplex Algorithm</vt:lpstr>
      <vt:lpstr>When is the Two-Phase Simplex Necessary?</vt:lpstr>
      <vt:lpstr>Rewrite all inequalities  as equalities</vt:lpstr>
      <vt:lpstr>Rewrite Objective function (Z)             +  Add new Objective function (W)</vt:lpstr>
      <vt:lpstr>Setup 1st Tableau    (Phase 1 start) </vt:lpstr>
      <vt:lpstr>Pivoting explanation     (Phase 1 pivot) </vt:lpstr>
      <vt:lpstr>Pivoting explanation     (Phase 2 pivot) </vt:lpstr>
      <vt:lpstr>Interpreting results    (Phase 2 Results) </vt:lpstr>
      <vt:lpstr>Two Phase Simplex  Example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Kruger</dc:creator>
  <cp:lastModifiedBy>Alexander Kruger</cp:lastModifiedBy>
  <cp:revision>5</cp:revision>
  <dcterms:created xsi:type="dcterms:W3CDTF">2026-04-18T12:35:42Z</dcterms:created>
  <dcterms:modified xsi:type="dcterms:W3CDTF">2026-07-29T13:58:08Z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0x010100658BC9547720EC42B47E9C4C8244DA90</vt:lpwstr>
  </property>
</Properties>
</file>